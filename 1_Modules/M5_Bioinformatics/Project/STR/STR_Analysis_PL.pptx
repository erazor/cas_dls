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8288000" cy="10287000"/>
  <p:notesSz cx="6858000" cy="9144000"/>
  <p:embeddedFontLst>
    <p:embeddedFont>
      <p:font typeface="Core Bandi Face" panose="020B0604020202020204" charset="-127"/>
      <p:regular r:id="rId13"/>
    </p:embeddedFont>
    <p:embeddedFont>
      <p:font typeface="Coiny" panose="020B0604020202020204" charset="0"/>
      <p:regular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B737"/>
    <a:srgbClr val="43A8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22" autoAdjust="0"/>
  </p:normalViewPr>
  <p:slideViewPr>
    <p:cSldViewPr>
      <p:cViewPr varScale="1">
        <p:scale>
          <a:sx n="107" d="100"/>
          <a:sy n="107" d="100"/>
        </p:scale>
        <p:origin x="258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svg"/><Relationship Id="rId7" Type="http://schemas.openxmlformats.org/officeDocument/2006/relationships/image" Target="../media/image2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3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29.svg"/><Relationship Id="rId12" Type="http://schemas.openxmlformats.org/officeDocument/2006/relationships/image" Target="../media/image6.png"/><Relationship Id="rId17" Type="http://schemas.openxmlformats.org/officeDocument/2006/relationships/image" Target="../media/image37.svg"/><Relationship Id="rId2" Type="http://schemas.openxmlformats.org/officeDocument/2006/relationships/image" Target="../media/image1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15.svg"/><Relationship Id="rId5" Type="http://schemas.openxmlformats.org/officeDocument/2006/relationships/image" Target="../media/image4.svg"/><Relationship Id="rId15" Type="http://schemas.openxmlformats.org/officeDocument/2006/relationships/image" Target="../media/image23.sv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9.svg"/><Relationship Id="rId1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0516940" y="-4262486"/>
            <a:ext cx="11321058" cy="9612607"/>
          </a:xfrm>
          <a:custGeom>
            <a:avLst/>
            <a:gdLst/>
            <a:ahLst/>
            <a:cxnLst/>
            <a:rect l="l" t="t" r="r" b="b"/>
            <a:pathLst>
              <a:path w="11321058" h="9612607">
                <a:moveTo>
                  <a:pt x="11321058" y="9612607"/>
                </a:moveTo>
                <a:lnTo>
                  <a:pt x="0" y="9612607"/>
                </a:lnTo>
                <a:lnTo>
                  <a:pt x="0" y="0"/>
                </a:lnTo>
                <a:lnTo>
                  <a:pt x="11321058" y="0"/>
                </a:lnTo>
                <a:lnTo>
                  <a:pt x="11321058" y="9612607"/>
                </a:lnTo>
                <a:close/>
              </a:path>
            </a:pathLst>
          </a:custGeom>
          <a:blipFill>
            <a:blip r:embed="rId2">
              <a:alphaModFix amt="1063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549998" y="4936879"/>
            <a:ext cx="11321058" cy="9612607"/>
          </a:xfrm>
          <a:custGeom>
            <a:avLst/>
            <a:gdLst/>
            <a:ahLst/>
            <a:cxnLst/>
            <a:rect l="l" t="t" r="r" b="b"/>
            <a:pathLst>
              <a:path w="11321058" h="9612607">
                <a:moveTo>
                  <a:pt x="0" y="0"/>
                </a:moveTo>
                <a:lnTo>
                  <a:pt x="11321058" y="0"/>
                </a:lnTo>
                <a:lnTo>
                  <a:pt x="11321058" y="9612607"/>
                </a:lnTo>
                <a:lnTo>
                  <a:pt x="0" y="96126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63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3612021" flipH="1">
            <a:off x="14461741" y="3775960"/>
            <a:ext cx="2921508" cy="4114800"/>
          </a:xfrm>
          <a:custGeom>
            <a:avLst/>
            <a:gdLst/>
            <a:ahLst/>
            <a:cxnLst/>
            <a:rect l="l" t="t" r="r" b="b"/>
            <a:pathLst>
              <a:path w="2921508" h="4114800">
                <a:moveTo>
                  <a:pt x="2921508" y="0"/>
                </a:moveTo>
                <a:lnTo>
                  <a:pt x="0" y="0"/>
                </a:lnTo>
                <a:lnTo>
                  <a:pt x="0" y="4114800"/>
                </a:lnTo>
                <a:lnTo>
                  <a:pt x="2921508" y="4114800"/>
                </a:lnTo>
                <a:lnTo>
                  <a:pt x="292150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85800" y="2488565"/>
            <a:ext cx="16422585" cy="4213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235"/>
              </a:lnSpc>
            </a:pPr>
            <a:r>
              <a:rPr lang="en-US" sz="15033" dirty="0">
                <a:solidFill>
                  <a:srgbClr val="43A8B0"/>
                </a:solidFill>
                <a:latin typeface="Coiny"/>
                <a:ea typeface="Coiny"/>
                <a:cs typeface="Coiny"/>
                <a:sym typeface="Coiny"/>
              </a:rPr>
              <a:t>Short Tandem Repeats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92395" y="6985699"/>
            <a:ext cx="3503209" cy="58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By Pascal Luc</a:t>
            </a: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C678D313-7255-C0B4-86FD-7B2C414E55F1}"/>
              </a:ext>
            </a:extLst>
          </p:cNvPr>
          <p:cNvSpPr txBox="1"/>
          <p:nvPr/>
        </p:nvSpPr>
        <p:spPr>
          <a:xfrm>
            <a:off x="7392395" y="7889112"/>
            <a:ext cx="3503209" cy="58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0516940" y="-4262486"/>
            <a:ext cx="11321058" cy="9612607"/>
          </a:xfrm>
          <a:custGeom>
            <a:avLst/>
            <a:gdLst/>
            <a:ahLst/>
            <a:cxnLst/>
            <a:rect l="l" t="t" r="r" b="b"/>
            <a:pathLst>
              <a:path w="11321058" h="9612607">
                <a:moveTo>
                  <a:pt x="11321058" y="9612607"/>
                </a:moveTo>
                <a:lnTo>
                  <a:pt x="0" y="9612607"/>
                </a:lnTo>
                <a:lnTo>
                  <a:pt x="0" y="0"/>
                </a:lnTo>
                <a:lnTo>
                  <a:pt x="11321058" y="0"/>
                </a:lnTo>
                <a:lnTo>
                  <a:pt x="11321058" y="9612607"/>
                </a:lnTo>
                <a:close/>
              </a:path>
            </a:pathLst>
          </a:custGeom>
          <a:blipFill>
            <a:blip r:embed="rId2">
              <a:alphaModFix amt="1063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549998" y="4936879"/>
            <a:ext cx="11321058" cy="9612607"/>
          </a:xfrm>
          <a:custGeom>
            <a:avLst/>
            <a:gdLst/>
            <a:ahLst/>
            <a:cxnLst/>
            <a:rect l="l" t="t" r="r" b="b"/>
            <a:pathLst>
              <a:path w="11321058" h="9612607">
                <a:moveTo>
                  <a:pt x="0" y="0"/>
                </a:moveTo>
                <a:lnTo>
                  <a:pt x="11321058" y="0"/>
                </a:lnTo>
                <a:lnTo>
                  <a:pt x="11321058" y="9612607"/>
                </a:lnTo>
                <a:lnTo>
                  <a:pt x="0" y="96126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63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3408571" y="4374676"/>
            <a:ext cx="11470858" cy="2193572"/>
            <a:chOff x="0" y="0"/>
            <a:chExt cx="1777136" cy="3398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77136" cy="339842"/>
            </a:xfrm>
            <a:custGeom>
              <a:avLst/>
              <a:gdLst/>
              <a:ahLst/>
              <a:cxnLst/>
              <a:rect l="l" t="t" r="r" b="b"/>
              <a:pathLst>
                <a:path w="1777136" h="339842">
                  <a:moveTo>
                    <a:pt x="33746" y="0"/>
                  </a:moveTo>
                  <a:lnTo>
                    <a:pt x="1743390" y="0"/>
                  </a:lnTo>
                  <a:cubicBezTo>
                    <a:pt x="1762028" y="0"/>
                    <a:pt x="1777136" y="15109"/>
                    <a:pt x="1777136" y="33746"/>
                  </a:cubicBezTo>
                  <a:lnTo>
                    <a:pt x="1777136" y="306096"/>
                  </a:lnTo>
                  <a:cubicBezTo>
                    <a:pt x="1777136" y="324733"/>
                    <a:pt x="1762028" y="339842"/>
                    <a:pt x="1743390" y="339842"/>
                  </a:cubicBezTo>
                  <a:lnTo>
                    <a:pt x="33746" y="339842"/>
                  </a:lnTo>
                  <a:cubicBezTo>
                    <a:pt x="15109" y="339842"/>
                    <a:pt x="0" y="324733"/>
                    <a:pt x="0" y="306096"/>
                  </a:cubicBezTo>
                  <a:lnTo>
                    <a:pt x="0" y="33746"/>
                  </a:lnTo>
                  <a:cubicBezTo>
                    <a:pt x="0" y="15109"/>
                    <a:pt x="15109" y="0"/>
                    <a:pt x="33746" y="0"/>
                  </a:cubicBezTo>
                  <a:close/>
                </a:path>
              </a:pathLst>
            </a:custGeom>
            <a:blipFill>
              <a:blip r:embed="rId4"/>
              <a:stretch>
                <a:fillRect t="-178705" b="-35052"/>
              </a:stretch>
            </a:blipFill>
            <a:ln w="114300" cap="rnd">
              <a:solidFill>
                <a:srgbClr val="FFFCF7"/>
              </a:solidFill>
              <a:prstDash val="solid"/>
              <a:round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2503181" y="1770047"/>
            <a:ext cx="13281638" cy="118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79"/>
              </a:lnSpc>
            </a:pPr>
            <a:r>
              <a:rPr lang="en-US" sz="8499" dirty="0">
                <a:solidFill>
                  <a:srgbClr val="43A8B0"/>
                </a:solidFill>
                <a:latin typeface="Coiny"/>
                <a:ea typeface="Coiny"/>
                <a:cs typeface="Coiny"/>
                <a:sym typeface="Coiny"/>
              </a:rPr>
              <a:t>Introduction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15574" y="3278525"/>
            <a:ext cx="12456852" cy="86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Goal of this project is to retrace and comprehend the application of STR-Analysis to identify and verify genome mutations which can lead to unregulated cell division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15574" y="6875477"/>
            <a:ext cx="12456852" cy="1316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In-Going Scenario: Given a sequencing sample from a Patient with suspected cancer, we need to investigate, whether there is an effective variant, which is related to the patients symptom.</a:t>
            </a:r>
          </a:p>
        </p:txBody>
      </p:sp>
      <p:sp>
        <p:nvSpPr>
          <p:cNvPr id="17" name="Freeform 11"/>
          <p:cNvSpPr/>
          <p:nvPr/>
        </p:nvSpPr>
        <p:spPr>
          <a:xfrm flipH="1">
            <a:off x="704249" y="286461"/>
            <a:ext cx="3597864" cy="1831640"/>
          </a:xfrm>
          <a:custGeom>
            <a:avLst/>
            <a:gdLst/>
            <a:ahLst/>
            <a:cxnLst/>
            <a:rect l="l" t="t" r="r" b="b"/>
            <a:pathLst>
              <a:path w="3597864" h="1831640">
                <a:moveTo>
                  <a:pt x="3597864" y="0"/>
                </a:moveTo>
                <a:lnTo>
                  <a:pt x="0" y="0"/>
                </a:lnTo>
                <a:lnTo>
                  <a:pt x="0" y="1831640"/>
                </a:lnTo>
                <a:lnTo>
                  <a:pt x="3597864" y="1831640"/>
                </a:lnTo>
                <a:lnTo>
                  <a:pt x="359786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0516940" y="-4262486"/>
            <a:ext cx="11321058" cy="9612607"/>
          </a:xfrm>
          <a:custGeom>
            <a:avLst/>
            <a:gdLst/>
            <a:ahLst/>
            <a:cxnLst/>
            <a:rect l="l" t="t" r="r" b="b"/>
            <a:pathLst>
              <a:path w="11321058" h="9612607">
                <a:moveTo>
                  <a:pt x="11321058" y="9612607"/>
                </a:moveTo>
                <a:lnTo>
                  <a:pt x="0" y="9612607"/>
                </a:lnTo>
                <a:lnTo>
                  <a:pt x="0" y="0"/>
                </a:lnTo>
                <a:lnTo>
                  <a:pt x="11321058" y="0"/>
                </a:lnTo>
                <a:lnTo>
                  <a:pt x="11321058" y="9612607"/>
                </a:lnTo>
                <a:close/>
              </a:path>
            </a:pathLst>
          </a:custGeom>
          <a:blipFill>
            <a:blip r:embed="rId2">
              <a:alphaModFix amt="1063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581400" y="4936879"/>
            <a:ext cx="11321058" cy="9612607"/>
          </a:xfrm>
          <a:custGeom>
            <a:avLst/>
            <a:gdLst/>
            <a:ahLst/>
            <a:cxnLst/>
            <a:rect l="l" t="t" r="r" b="b"/>
            <a:pathLst>
              <a:path w="11321058" h="9612607">
                <a:moveTo>
                  <a:pt x="0" y="0"/>
                </a:moveTo>
                <a:lnTo>
                  <a:pt x="11321058" y="0"/>
                </a:lnTo>
                <a:lnTo>
                  <a:pt x="11321058" y="9612607"/>
                </a:lnTo>
                <a:lnTo>
                  <a:pt x="0" y="96126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63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28600" y="543817"/>
            <a:ext cx="3332932" cy="2487201"/>
          </a:xfrm>
          <a:custGeom>
            <a:avLst/>
            <a:gdLst/>
            <a:ahLst/>
            <a:cxnLst/>
            <a:rect l="l" t="t" r="r" b="b"/>
            <a:pathLst>
              <a:path w="3332932" h="2487201">
                <a:moveTo>
                  <a:pt x="0" y="0"/>
                </a:moveTo>
                <a:lnTo>
                  <a:pt x="3332932" y="0"/>
                </a:lnTo>
                <a:lnTo>
                  <a:pt x="3332932" y="2487201"/>
                </a:lnTo>
                <a:lnTo>
                  <a:pt x="0" y="24872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503181" y="1770047"/>
            <a:ext cx="13281638" cy="121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79"/>
              </a:lnSpc>
            </a:pPr>
            <a:r>
              <a:rPr lang="en-US" sz="8499" dirty="0">
                <a:solidFill>
                  <a:srgbClr val="43A8B0"/>
                </a:solidFill>
                <a:latin typeface="Coiny"/>
                <a:ea typeface="Coiny"/>
                <a:cs typeface="Coiny"/>
                <a:sym typeface="Coiny"/>
              </a:rPr>
              <a:t>Setup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94883" y="3483360"/>
            <a:ext cx="5395949" cy="425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874" lvl="1" algn="l">
              <a:lnSpc>
                <a:spcPts val="3499"/>
              </a:lnSpc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ZHAW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Earth Cluster</a:t>
            </a:r>
          </a:p>
          <a:p>
            <a:pPr marL="996949" lvl="2" indent="-269875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Linux “Rocky 8”</a:t>
            </a:r>
          </a:p>
          <a:p>
            <a:pPr marL="1454149" lvl="3" indent="-269875">
              <a:lnSpc>
                <a:spcPts val="3499"/>
              </a:lnSpc>
              <a:buFont typeface="Arial"/>
              <a:buChar char="•"/>
            </a:pPr>
            <a:r>
              <a:rPr lang="en-US" sz="2499" dirty="0" err="1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Conda</a:t>
            </a: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 4.12</a:t>
            </a:r>
          </a:p>
          <a:p>
            <a:pPr lvl="3"/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US" sz="20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python=3.9</a:t>
            </a:r>
            <a:endParaRPr lang="en-US" sz="20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3"/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US" sz="20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gangstr</a:t>
            </a:r>
            <a:endParaRPr lang="en-US" sz="20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3"/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US" sz="20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bwa-mem2</a:t>
            </a:r>
            <a:endParaRPr lang="en-US" sz="20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3"/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US" sz="20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samtools</a:t>
            </a:r>
            <a:endParaRPr lang="en-US" sz="20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3"/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US" sz="20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cyvcf2</a:t>
            </a:r>
            <a:endParaRPr lang="en-US" sz="20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3"/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US" sz="20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biopython</a:t>
            </a:r>
            <a:endParaRPr lang="en-US" sz="20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3"/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US" sz="20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notebook</a:t>
            </a:r>
            <a:endParaRPr lang="en-US" sz="20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3"/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US" sz="20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cnvkit</a:t>
            </a:r>
            <a:endParaRPr lang="en-US" sz="20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26" name="Picture 2" descr="Cisco anyconnect - free Icon PNG, SVG">
            <a:extLst>
              <a:ext uri="{FF2B5EF4-FFF2-40B4-BE49-F238E27FC236}">
                <a16:creationId xmlns:a16="http://schemas.microsoft.com/office/drawing/2014/main" id="{053757FA-51D2-174F-EA66-14D644A31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969" y="3518686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17AFAF68-5976-6A67-45F8-46C63EF4E178}"/>
              </a:ext>
            </a:extLst>
          </p:cNvPr>
          <p:cNvSpPr txBox="1"/>
          <p:nvPr/>
        </p:nvSpPr>
        <p:spPr>
          <a:xfrm>
            <a:off x="8528105" y="5143500"/>
            <a:ext cx="1523999" cy="54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4" lvl="1" algn="l">
              <a:lnSpc>
                <a:spcPts val="3499"/>
              </a:lnSpc>
            </a:pPr>
            <a:r>
              <a:rPr lang="en-US" sz="3200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VPN</a:t>
            </a:r>
          </a:p>
        </p:txBody>
      </p:sp>
      <p:pic>
        <p:nvPicPr>
          <p:cNvPr id="19" name="Grafik 18" descr="Datenbank mit einfarbiger Füllung">
            <a:extLst>
              <a:ext uri="{FF2B5EF4-FFF2-40B4-BE49-F238E27FC236}">
                <a16:creationId xmlns:a16="http://schemas.microsoft.com/office/drawing/2014/main" id="{5B1A23A6-7533-0B06-0D21-09FB7C30FE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61094" y="7092114"/>
            <a:ext cx="914400" cy="914400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D51CABBA-9BF5-BBE2-282F-6A5F4BC2ABE5}"/>
              </a:ext>
            </a:extLst>
          </p:cNvPr>
          <p:cNvSpPr txBox="1"/>
          <p:nvPr/>
        </p:nvSpPr>
        <p:spPr>
          <a:xfrm>
            <a:off x="7775494" y="7092114"/>
            <a:ext cx="518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CHR5 Genome Reference (FA, FAI)</a:t>
            </a:r>
          </a:p>
          <a:p>
            <a:r>
              <a:rPr lang="en-US" dirty="0"/>
              <a:t>Sample Short Reads (FASTQC)</a:t>
            </a:r>
          </a:p>
          <a:p>
            <a:r>
              <a:rPr lang="en-US" dirty="0"/>
              <a:t>APC Repeats (TSV)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83668" y="3511943"/>
            <a:ext cx="5467466" cy="3560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874" lvl="1" algn="l">
              <a:lnSpc>
                <a:spcPts val="3499"/>
              </a:lnSpc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Home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Windows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Visual Studio Code</a:t>
            </a:r>
          </a:p>
          <a:p>
            <a:pPr marL="996949" lvl="2" indent="-269875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SSH</a:t>
            </a:r>
          </a:p>
          <a:p>
            <a:pPr marL="996949" lvl="2" indent="-269875">
              <a:lnSpc>
                <a:spcPts val="3499"/>
              </a:lnSpc>
              <a:buFont typeface="Arial"/>
              <a:buChar char="•"/>
            </a:pPr>
            <a:r>
              <a:rPr lang="en-US" sz="2499" dirty="0" err="1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Jupyter</a:t>
            </a: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 notebook</a:t>
            </a:r>
          </a:p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FileZilla</a:t>
            </a:r>
          </a:p>
          <a:p>
            <a:pPr marL="996949" lvl="2" indent="-269875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SFTP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endParaRPr lang="en-US" sz="2499" dirty="0">
              <a:solidFill>
                <a:srgbClr val="2E2E30"/>
              </a:solidFill>
              <a:latin typeface="Core Bandi Face"/>
              <a:ea typeface="Core Bandi Face"/>
              <a:cs typeface="Core Bandi Face"/>
              <a:sym typeface="Core Bandi Face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9364984-7BDF-085A-5726-6F73C8F1C4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9121" y="2981854"/>
            <a:ext cx="9667875" cy="7027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11">
            <a:extLst>
              <a:ext uri="{FF2B5EF4-FFF2-40B4-BE49-F238E27FC236}">
                <a16:creationId xmlns:a16="http://schemas.microsoft.com/office/drawing/2014/main" id="{9A4D5D48-7A07-8FC7-406F-5A2447AFE3C9}"/>
              </a:ext>
            </a:extLst>
          </p:cNvPr>
          <p:cNvSpPr/>
          <p:nvPr/>
        </p:nvSpPr>
        <p:spPr>
          <a:xfrm rot="672572">
            <a:off x="12483808" y="717187"/>
            <a:ext cx="5656480" cy="5274668"/>
          </a:xfrm>
          <a:custGeom>
            <a:avLst/>
            <a:gdLst/>
            <a:ahLst/>
            <a:cxnLst/>
            <a:rect l="l" t="t" r="r" b="b"/>
            <a:pathLst>
              <a:path w="5656480" h="5274668">
                <a:moveTo>
                  <a:pt x="0" y="0"/>
                </a:moveTo>
                <a:lnTo>
                  <a:pt x="5656480" y="0"/>
                </a:lnTo>
                <a:lnTo>
                  <a:pt x="5656480" y="5274668"/>
                </a:lnTo>
                <a:lnTo>
                  <a:pt x="0" y="527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503181" y="1709170"/>
            <a:ext cx="13281638" cy="121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79"/>
              </a:lnSpc>
            </a:pPr>
            <a:r>
              <a:rPr lang="en-US" sz="8499" dirty="0">
                <a:solidFill>
                  <a:srgbClr val="43A8B0"/>
                </a:solidFill>
                <a:latin typeface="Coiny"/>
                <a:ea typeface="Coiny"/>
                <a:cs typeface="Coiny"/>
                <a:sym typeface="Coiny"/>
              </a:rPr>
              <a:t>Alignment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45515" y="3405810"/>
            <a:ext cx="9714187" cy="86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Index</a:t>
            </a: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 CHR5 Reference for Sample alignment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TOOL: BWA-MEM2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9600" y="3518840"/>
            <a:ext cx="2135915" cy="106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7500" dirty="0">
                <a:solidFill>
                  <a:srgbClr val="F46A61"/>
                </a:solidFill>
                <a:latin typeface="Coiny"/>
                <a:ea typeface="Coiny"/>
                <a:cs typeface="Coiny"/>
                <a:sym typeface="Coiny"/>
              </a:rPr>
              <a:t>01.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9600" y="5238580"/>
            <a:ext cx="2135915" cy="106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7500" dirty="0">
                <a:solidFill>
                  <a:srgbClr val="F46A61"/>
                </a:solidFill>
                <a:latin typeface="Coiny"/>
                <a:ea typeface="Coiny"/>
                <a:cs typeface="Coiny"/>
                <a:sym typeface="Coiny"/>
              </a:rPr>
              <a:t>02.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745515" y="6845289"/>
            <a:ext cx="9714187" cy="1316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Convert</a:t>
            </a: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 the raw Alignment File SAM into compressed BAM Format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Sort and Index the sequences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Tool: </a:t>
            </a:r>
            <a:r>
              <a:rPr lang="en-US" sz="2499" dirty="0" err="1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samtools</a:t>
            </a:r>
            <a:endParaRPr lang="en-US" sz="2499" dirty="0">
              <a:solidFill>
                <a:srgbClr val="2E2E30"/>
              </a:solidFill>
              <a:latin typeface="Core Bandi Face"/>
              <a:ea typeface="Core Bandi Face"/>
              <a:cs typeface="Core Bandi Face"/>
              <a:sym typeface="Core Bandi Face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09600" y="6958319"/>
            <a:ext cx="2135915" cy="106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7500">
                <a:solidFill>
                  <a:srgbClr val="F46A61"/>
                </a:solidFill>
                <a:latin typeface="Coiny"/>
                <a:ea typeface="Coiny"/>
                <a:cs typeface="Coiny"/>
                <a:sym typeface="Coiny"/>
              </a:rPr>
              <a:t>03.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073ADC43-056B-39C9-4A97-9A6768825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0279" y="3442651"/>
            <a:ext cx="6554115" cy="3943900"/>
          </a:xfrm>
          <a:prstGeom prst="rect">
            <a:avLst/>
          </a:prstGeom>
        </p:spPr>
      </p:pic>
      <p:sp>
        <p:nvSpPr>
          <p:cNvPr id="21" name="TextBox 13">
            <a:extLst>
              <a:ext uri="{FF2B5EF4-FFF2-40B4-BE49-F238E27FC236}">
                <a16:creationId xmlns:a16="http://schemas.microsoft.com/office/drawing/2014/main" id="{FD533EB2-4E6D-E873-07C0-C0500F4F1668}"/>
              </a:ext>
            </a:extLst>
          </p:cNvPr>
          <p:cNvSpPr txBox="1"/>
          <p:nvPr/>
        </p:nvSpPr>
        <p:spPr>
          <a:xfrm>
            <a:off x="2745514" y="5143500"/>
            <a:ext cx="9714187" cy="86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Alignment</a:t>
            </a: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 of our Sample to the indexed reference genome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TOOL: BWA-MEM2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7265A9AE-E807-4FEF-12A5-2BFEA68CF2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0279" y="5107508"/>
            <a:ext cx="6182588" cy="2943636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AC8DF8BC-AB33-7251-442D-6D269E28A0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0279" y="6690933"/>
            <a:ext cx="6525536" cy="3057952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592965E2-2924-2241-596F-12643998A5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4568" y="6932479"/>
            <a:ext cx="6554115" cy="2876951"/>
          </a:xfrm>
          <a:prstGeom prst="rect">
            <a:avLst/>
          </a:prstGeom>
        </p:spPr>
      </p:pic>
      <p:sp>
        <p:nvSpPr>
          <p:cNvPr id="29" name="Textfeld 28">
            <a:extLst>
              <a:ext uri="{FF2B5EF4-FFF2-40B4-BE49-F238E27FC236}">
                <a16:creationId xmlns:a16="http://schemas.microsoft.com/office/drawing/2014/main" id="{9B644300-E6CA-617C-B825-0E73BD16FFB1}"/>
              </a:ext>
            </a:extLst>
          </p:cNvPr>
          <p:cNvSpPr txBox="1"/>
          <p:nvPr/>
        </p:nvSpPr>
        <p:spPr>
          <a:xfrm>
            <a:off x="2745514" y="9172624"/>
            <a:ext cx="746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Using the parameter –l 60 provide us a very high consensus quality </a:t>
            </a:r>
          </a:p>
          <a:p>
            <a:r>
              <a:rPr lang="en-US" dirty="0"/>
              <a:t>(Error probability = </a:t>
            </a:r>
            <a:r>
              <a:rPr lang="en-US" b="1" dirty="0"/>
              <a:t>0.0001%)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flipH="1">
            <a:off x="14807524" y="2154416"/>
            <a:ext cx="2108875" cy="2963556"/>
          </a:xfrm>
          <a:custGeom>
            <a:avLst/>
            <a:gdLst/>
            <a:ahLst/>
            <a:cxnLst/>
            <a:rect l="l" t="t" r="r" b="b"/>
            <a:pathLst>
              <a:path w="2921508" h="4114800">
                <a:moveTo>
                  <a:pt x="2921508" y="0"/>
                </a:moveTo>
                <a:lnTo>
                  <a:pt x="0" y="0"/>
                </a:lnTo>
                <a:lnTo>
                  <a:pt x="0" y="4114800"/>
                </a:lnTo>
                <a:lnTo>
                  <a:pt x="2921508" y="4114800"/>
                </a:lnTo>
                <a:lnTo>
                  <a:pt x="29215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503181" y="1709170"/>
            <a:ext cx="13281638" cy="121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79"/>
              </a:lnSpc>
            </a:pPr>
            <a:r>
              <a:rPr lang="en-US" sz="8499" dirty="0">
                <a:solidFill>
                  <a:srgbClr val="43A8B0"/>
                </a:solidFill>
                <a:latin typeface="Coiny"/>
                <a:ea typeface="Coiny"/>
                <a:cs typeface="Coiny"/>
                <a:sym typeface="Coiny"/>
              </a:rPr>
              <a:t>STR Analysis</a:t>
            </a:r>
          </a:p>
        </p:txBody>
      </p:sp>
      <p:sp>
        <p:nvSpPr>
          <p:cNvPr id="13" name="Freeform 13"/>
          <p:cNvSpPr/>
          <p:nvPr/>
        </p:nvSpPr>
        <p:spPr>
          <a:xfrm flipH="1">
            <a:off x="4245322" y="4302773"/>
            <a:ext cx="3203944" cy="876491"/>
          </a:xfrm>
          <a:custGeom>
            <a:avLst/>
            <a:gdLst/>
            <a:ahLst/>
            <a:cxnLst/>
            <a:rect l="l" t="t" r="r" b="b"/>
            <a:pathLst>
              <a:path w="3203944" h="876491">
                <a:moveTo>
                  <a:pt x="3203944" y="0"/>
                </a:moveTo>
                <a:lnTo>
                  <a:pt x="0" y="0"/>
                </a:lnTo>
                <a:lnTo>
                  <a:pt x="0" y="876491"/>
                </a:lnTo>
                <a:lnTo>
                  <a:pt x="3203944" y="876491"/>
                </a:lnTo>
                <a:lnTo>
                  <a:pt x="320394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265542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245322" y="4446379"/>
            <a:ext cx="2245132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500" dirty="0">
                <a:solidFill>
                  <a:srgbClr val="2E2E30"/>
                </a:solidFill>
                <a:latin typeface="Coiny"/>
                <a:ea typeface="Coiny"/>
                <a:cs typeface="Coiny"/>
                <a:sym typeface="Coiny"/>
              </a:rPr>
              <a:t>BAM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8001" y="4683869"/>
            <a:ext cx="833563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Source: Our Sample from the short reads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58000" y="4309218"/>
            <a:ext cx="6387994" cy="419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43A8B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Compressed Sequencing Alignment Map</a:t>
            </a:r>
          </a:p>
        </p:txBody>
      </p:sp>
      <p:sp>
        <p:nvSpPr>
          <p:cNvPr id="17" name="Freeform 17"/>
          <p:cNvSpPr/>
          <p:nvPr/>
        </p:nvSpPr>
        <p:spPr>
          <a:xfrm flipH="1">
            <a:off x="4245322" y="5369097"/>
            <a:ext cx="3203944" cy="876491"/>
          </a:xfrm>
          <a:custGeom>
            <a:avLst/>
            <a:gdLst/>
            <a:ahLst/>
            <a:cxnLst/>
            <a:rect l="l" t="t" r="r" b="b"/>
            <a:pathLst>
              <a:path w="3203944" h="876491">
                <a:moveTo>
                  <a:pt x="3203944" y="0"/>
                </a:moveTo>
                <a:lnTo>
                  <a:pt x="0" y="0"/>
                </a:lnTo>
                <a:lnTo>
                  <a:pt x="0" y="876491"/>
                </a:lnTo>
                <a:lnTo>
                  <a:pt x="3203944" y="876491"/>
                </a:lnTo>
                <a:lnTo>
                  <a:pt x="320394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265542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245322" y="5512703"/>
            <a:ext cx="2245132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500" dirty="0">
                <a:solidFill>
                  <a:srgbClr val="2E2E30"/>
                </a:solidFill>
                <a:latin typeface="Coiny"/>
                <a:ea typeface="Coiny"/>
                <a:cs typeface="Coiny"/>
                <a:sym typeface="Coiny"/>
              </a:rPr>
              <a:t>REF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58001" y="5758826"/>
            <a:ext cx="833563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Source: Human Genome Project (APC Gene)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58000" y="5384176"/>
            <a:ext cx="5397393" cy="419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43A8B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APC Reference Data</a:t>
            </a:r>
          </a:p>
        </p:txBody>
      </p:sp>
      <p:sp>
        <p:nvSpPr>
          <p:cNvPr id="21" name="Freeform 21"/>
          <p:cNvSpPr/>
          <p:nvPr/>
        </p:nvSpPr>
        <p:spPr>
          <a:xfrm flipH="1">
            <a:off x="4245322" y="6436088"/>
            <a:ext cx="3203944" cy="876491"/>
          </a:xfrm>
          <a:custGeom>
            <a:avLst/>
            <a:gdLst/>
            <a:ahLst/>
            <a:cxnLst/>
            <a:rect l="l" t="t" r="r" b="b"/>
            <a:pathLst>
              <a:path w="3203944" h="876491">
                <a:moveTo>
                  <a:pt x="3203944" y="0"/>
                </a:moveTo>
                <a:lnTo>
                  <a:pt x="0" y="0"/>
                </a:lnTo>
                <a:lnTo>
                  <a:pt x="0" y="876491"/>
                </a:lnTo>
                <a:lnTo>
                  <a:pt x="3203944" y="876491"/>
                </a:lnTo>
                <a:lnTo>
                  <a:pt x="320394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265542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245322" y="6579694"/>
            <a:ext cx="2245132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500" dirty="0">
                <a:solidFill>
                  <a:srgbClr val="2E2E30"/>
                </a:solidFill>
                <a:latin typeface="Coiny"/>
                <a:ea typeface="Coiny"/>
                <a:cs typeface="Coiny"/>
                <a:sym typeface="Coiny"/>
              </a:rPr>
              <a:t>REGIONS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58001" y="6834450"/>
            <a:ext cx="833563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Source: STR Genotype Database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58001" y="6459800"/>
            <a:ext cx="4027134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43A8B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Coordinates of Repeat Sites</a:t>
            </a:r>
          </a:p>
        </p:txBody>
      </p:sp>
      <p:sp>
        <p:nvSpPr>
          <p:cNvPr id="25" name="Freeform 25"/>
          <p:cNvSpPr/>
          <p:nvPr/>
        </p:nvSpPr>
        <p:spPr>
          <a:xfrm flipH="1">
            <a:off x="4245322" y="7503079"/>
            <a:ext cx="3203944" cy="876491"/>
          </a:xfrm>
          <a:custGeom>
            <a:avLst/>
            <a:gdLst/>
            <a:ahLst/>
            <a:cxnLst/>
            <a:rect l="l" t="t" r="r" b="b"/>
            <a:pathLst>
              <a:path w="3203944" h="876491">
                <a:moveTo>
                  <a:pt x="3203944" y="0"/>
                </a:moveTo>
                <a:lnTo>
                  <a:pt x="0" y="0"/>
                </a:lnTo>
                <a:lnTo>
                  <a:pt x="0" y="876492"/>
                </a:lnTo>
                <a:lnTo>
                  <a:pt x="3203944" y="876492"/>
                </a:lnTo>
                <a:lnTo>
                  <a:pt x="320394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265542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4245322" y="7646685"/>
            <a:ext cx="2245132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500" dirty="0">
                <a:solidFill>
                  <a:srgbClr val="2E2E30"/>
                </a:solidFill>
                <a:latin typeface="Coiny"/>
                <a:ea typeface="Coiny"/>
                <a:cs typeface="Coiny"/>
                <a:sym typeface="Coiny"/>
              </a:rPr>
              <a:t>OUT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58000" y="7535424"/>
            <a:ext cx="5549793" cy="419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43A8B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Custom prefix for the outputs</a:t>
            </a:r>
          </a:p>
        </p:txBody>
      </p:sp>
      <p:sp>
        <p:nvSpPr>
          <p:cNvPr id="29" name="Freeform 14">
            <a:extLst>
              <a:ext uri="{FF2B5EF4-FFF2-40B4-BE49-F238E27FC236}">
                <a16:creationId xmlns:a16="http://schemas.microsoft.com/office/drawing/2014/main" id="{6B02F4C8-A740-1CA7-8DF5-E3418FA372D9}"/>
              </a:ext>
            </a:extLst>
          </p:cNvPr>
          <p:cNvSpPr/>
          <p:nvPr/>
        </p:nvSpPr>
        <p:spPr>
          <a:xfrm flipH="1">
            <a:off x="13721436" y="1214502"/>
            <a:ext cx="2966364" cy="3700398"/>
          </a:xfrm>
          <a:custGeom>
            <a:avLst/>
            <a:gdLst/>
            <a:ahLst/>
            <a:cxnLst/>
            <a:rect l="l" t="t" r="r" b="b"/>
            <a:pathLst>
              <a:path w="1440750" h="1842820">
                <a:moveTo>
                  <a:pt x="1440750" y="0"/>
                </a:moveTo>
                <a:lnTo>
                  <a:pt x="0" y="0"/>
                </a:lnTo>
                <a:lnTo>
                  <a:pt x="0" y="1842819"/>
                </a:lnTo>
                <a:lnTo>
                  <a:pt x="1440750" y="1842819"/>
                </a:lnTo>
                <a:lnTo>
                  <a:pt x="1440750" y="0"/>
                </a:lnTo>
                <a:close/>
              </a:path>
            </a:pathLst>
          </a:custGeom>
          <a:blipFill dpi="0" rotWithShape="1"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8F793E34-C8F6-36F5-471E-5D6034F053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1016" y="1215357"/>
            <a:ext cx="2968168" cy="3699543"/>
          </a:xfrm>
          <a:prstGeom prst="rect">
            <a:avLst/>
          </a:prstGeom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3E7F285B-85F1-CB43-6659-12F8C5ED8356}"/>
              </a:ext>
            </a:extLst>
          </p:cNvPr>
          <p:cNvSpPr txBox="1"/>
          <p:nvPr/>
        </p:nvSpPr>
        <p:spPr>
          <a:xfrm>
            <a:off x="3245652" y="3178278"/>
            <a:ext cx="10896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GangSTR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--bam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../../data/alignments/</a:t>
            </a:r>
            <a:r>
              <a:rPr lang="en-US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APC_mut.bam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--ref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../../data/reference/</a:t>
            </a:r>
            <a:r>
              <a:rPr lang="en-US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APC.fa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--regions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../../data/repeats/</a:t>
            </a:r>
            <a:r>
              <a:rPr lang="en-US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APC_repeats.tsv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--out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APC_mut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B8AB431D-CE39-B951-2647-8DE4C137AF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0" y="6274163"/>
            <a:ext cx="6506483" cy="391532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B2BC516-0A65-063B-2362-FF5D38981ED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3249989"/>
            <a:ext cx="18471109" cy="49818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-1236889" y="-607172"/>
            <a:ext cx="5656480" cy="5274668"/>
          </a:xfrm>
          <a:custGeom>
            <a:avLst/>
            <a:gdLst/>
            <a:ahLst/>
            <a:cxnLst/>
            <a:rect l="l" t="t" r="r" b="b"/>
            <a:pathLst>
              <a:path w="5656480" h="5274668">
                <a:moveTo>
                  <a:pt x="0" y="0"/>
                </a:moveTo>
                <a:lnTo>
                  <a:pt x="5656480" y="0"/>
                </a:lnTo>
                <a:lnTo>
                  <a:pt x="5656480" y="5274668"/>
                </a:lnTo>
                <a:lnTo>
                  <a:pt x="0" y="527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18290" y="1714500"/>
            <a:ext cx="15251419" cy="1211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79"/>
              </a:lnSpc>
            </a:pPr>
            <a:r>
              <a:rPr lang="en-US" sz="8499" dirty="0">
                <a:solidFill>
                  <a:srgbClr val="43A8B0"/>
                </a:solidFill>
                <a:latin typeface="Coiny"/>
                <a:ea typeface="Coiny"/>
                <a:cs typeface="Coiny"/>
                <a:sym typeface="Coiny"/>
              </a:rPr>
              <a:t>Visualization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FCCBC1D-E774-79F7-9675-64A560F7F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09930"/>
            <a:ext cx="21361485" cy="7577070"/>
          </a:xfrm>
          <a:prstGeom prst="rect">
            <a:avLst/>
          </a:prstGeom>
        </p:spPr>
      </p:pic>
      <p:sp>
        <p:nvSpPr>
          <p:cNvPr id="2" name="TextBox 14">
            <a:extLst>
              <a:ext uri="{FF2B5EF4-FFF2-40B4-BE49-F238E27FC236}">
                <a16:creationId xmlns:a16="http://schemas.microsoft.com/office/drawing/2014/main" id="{121B008F-594B-7166-BE01-350EDBE1A639}"/>
              </a:ext>
            </a:extLst>
          </p:cNvPr>
          <p:cNvSpPr txBox="1"/>
          <p:nvPr/>
        </p:nvSpPr>
        <p:spPr>
          <a:xfrm>
            <a:off x="13487400" y="9204508"/>
            <a:ext cx="55626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6000" dirty="0">
                <a:solidFill>
                  <a:srgbClr val="F46A61"/>
                </a:solidFill>
                <a:latin typeface="Coiny"/>
                <a:ea typeface="Coiny"/>
                <a:cs typeface="Coiny"/>
                <a:sym typeface="Coiny"/>
              </a:rPr>
              <a:t>143,6k bp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 rot="13345924" flipV="1">
            <a:off x="13961026" y="4595829"/>
            <a:ext cx="2910286" cy="4114800"/>
          </a:xfrm>
          <a:custGeom>
            <a:avLst/>
            <a:gdLst/>
            <a:ahLst/>
            <a:cxnLst/>
            <a:rect l="l" t="t" r="r" b="b"/>
            <a:pathLst>
              <a:path w="2910286" h="4114800">
                <a:moveTo>
                  <a:pt x="0" y="4114800"/>
                </a:moveTo>
                <a:lnTo>
                  <a:pt x="2910286" y="4114800"/>
                </a:lnTo>
                <a:lnTo>
                  <a:pt x="291028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503180" y="1709170"/>
            <a:ext cx="13727419" cy="1211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79"/>
              </a:lnSpc>
            </a:pPr>
            <a:r>
              <a:rPr lang="en-US" sz="8499" dirty="0">
                <a:solidFill>
                  <a:srgbClr val="43A8B0"/>
                </a:solidFill>
                <a:latin typeface="Coiny"/>
                <a:ea typeface="Coiny"/>
                <a:cs typeface="Coiny"/>
                <a:sym typeface="Coiny"/>
              </a:rPr>
              <a:t>STR variant's impact</a:t>
            </a: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8EE3BAA7-EE40-51B3-654E-4AE155D8C26A}"/>
              </a:ext>
            </a:extLst>
          </p:cNvPr>
          <p:cNvSpPr txBox="1"/>
          <p:nvPr/>
        </p:nvSpPr>
        <p:spPr>
          <a:xfrm>
            <a:off x="5488715" y="4476546"/>
            <a:ext cx="9714187" cy="86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Clean (delete other variants) &amp; Convert APC Gene Coordinates 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TOOL: Editor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22FF6361-1BA2-7B18-C584-4CBB1581220A}"/>
              </a:ext>
            </a:extLst>
          </p:cNvPr>
          <p:cNvSpPr txBox="1"/>
          <p:nvPr/>
        </p:nvSpPr>
        <p:spPr>
          <a:xfrm>
            <a:off x="3352800" y="4436393"/>
            <a:ext cx="2135915" cy="106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7500" dirty="0">
                <a:solidFill>
                  <a:srgbClr val="F46A61"/>
                </a:solidFill>
                <a:latin typeface="Coiny"/>
                <a:ea typeface="Coiny"/>
                <a:cs typeface="Coiny"/>
                <a:sym typeface="Coiny"/>
              </a:rPr>
              <a:t>01.</a:t>
            </a: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FE85C1A1-9973-7E1C-B371-117AE124E911}"/>
              </a:ext>
            </a:extLst>
          </p:cNvPr>
          <p:cNvSpPr txBox="1"/>
          <p:nvPr/>
        </p:nvSpPr>
        <p:spPr>
          <a:xfrm>
            <a:off x="3352801" y="5739882"/>
            <a:ext cx="2135915" cy="106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7500" dirty="0">
                <a:solidFill>
                  <a:srgbClr val="F46A61"/>
                </a:solidFill>
                <a:latin typeface="Coiny"/>
                <a:ea typeface="Coiny"/>
                <a:cs typeface="Coiny"/>
                <a:sym typeface="Coiny"/>
              </a:rPr>
              <a:t>02.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579D9015-3460-F697-B638-18DABDF412D8}"/>
              </a:ext>
            </a:extLst>
          </p:cNvPr>
          <p:cNvSpPr txBox="1"/>
          <p:nvPr/>
        </p:nvSpPr>
        <p:spPr>
          <a:xfrm>
            <a:off x="5562600" y="5655593"/>
            <a:ext cx="9714187" cy="1316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Upload Variant to VEP</a:t>
            </a:r>
          </a:p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TOOL: </a:t>
            </a:r>
            <a:r>
              <a:rPr lang="en-US" sz="28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www.ensembl.org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2E2E30"/>
              </a:solidFill>
              <a:latin typeface="Core Bandi Face"/>
              <a:ea typeface="Core Bandi Face"/>
              <a:cs typeface="Core Bandi Face"/>
              <a:sym typeface="Core Bandi Face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E41E7CA0-7D57-3985-C9E9-482CAD505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09900"/>
            <a:ext cx="18288000" cy="6772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>
            <a:extLst>
              <a:ext uri="{FF2B5EF4-FFF2-40B4-BE49-F238E27FC236}">
                <a16:creationId xmlns:a16="http://schemas.microsoft.com/office/drawing/2014/main" id="{576611E6-E899-9E6A-98FA-297073611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67000" y="-1262651"/>
            <a:ext cx="39167884" cy="11549651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F08ABD7D-6708-67B2-4594-D9F0D6C27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9400" y="1714500"/>
            <a:ext cx="2172003" cy="32675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2503181" y="1567606"/>
            <a:ext cx="13281638" cy="121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79"/>
              </a:lnSpc>
            </a:pPr>
            <a:r>
              <a:rPr lang="en-US" sz="8499" dirty="0">
                <a:solidFill>
                  <a:srgbClr val="43A8B0"/>
                </a:solidFill>
                <a:latin typeface="Coiny"/>
                <a:ea typeface="Coiny"/>
                <a:cs typeface="Coiny"/>
                <a:sym typeface="Coiny"/>
              </a:rPr>
              <a:t>Discussion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74116" y="3421143"/>
            <a:ext cx="5698402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7020"/>
              </a:lnSpc>
              <a:spcBef>
                <a:spcPct val="0"/>
              </a:spcBef>
            </a:pPr>
            <a:r>
              <a:rPr lang="en-US" sz="6000" u="none" strike="noStrike" dirty="0">
                <a:solidFill>
                  <a:schemeClr val="bg2">
                    <a:lumMod val="25000"/>
                  </a:schemeClr>
                </a:solidFill>
                <a:latin typeface="Coiny"/>
                <a:ea typeface="Coiny"/>
                <a:cs typeface="Coiny"/>
                <a:sym typeface="Coiny"/>
              </a:rPr>
              <a:t>Frame-shift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rcRect r="79080"/>
          <a:stretch/>
        </p:blipFill>
        <p:spPr>
          <a:xfrm>
            <a:off x="6406630" y="2971600"/>
            <a:ext cx="1209067" cy="1729049"/>
          </a:xfrm>
          <a:prstGeom prst="rect">
            <a:avLst/>
          </a:prstGeom>
        </p:spPr>
      </p:pic>
      <p:sp>
        <p:nvSpPr>
          <p:cNvPr id="19" name="TextBox 14">
            <a:extLst>
              <a:ext uri="{FF2B5EF4-FFF2-40B4-BE49-F238E27FC236}">
                <a16:creationId xmlns:a16="http://schemas.microsoft.com/office/drawing/2014/main" id="{FD16302D-11ED-3BAF-9B3A-9C67C6E9F510}"/>
              </a:ext>
            </a:extLst>
          </p:cNvPr>
          <p:cNvSpPr txBox="1"/>
          <p:nvPr/>
        </p:nvSpPr>
        <p:spPr>
          <a:xfrm>
            <a:off x="7774116" y="4743824"/>
            <a:ext cx="827213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7020"/>
              </a:lnSpc>
              <a:spcBef>
                <a:spcPct val="0"/>
              </a:spcBef>
            </a:pPr>
            <a:r>
              <a:rPr lang="en-US" sz="6000" u="none" strike="noStrike" dirty="0">
                <a:solidFill>
                  <a:schemeClr val="bg2">
                    <a:lumMod val="25000"/>
                  </a:schemeClr>
                </a:solidFill>
                <a:latin typeface="Coiny"/>
                <a:ea typeface="Coiny"/>
                <a:cs typeface="Coiny"/>
                <a:sym typeface="Coiny"/>
              </a:rPr>
              <a:t>3 </a:t>
            </a:r>
            <a:r>
              <a:rPr lang="en-US" sz="6000" u="none" strike="noStrike" dirty="0" err="1">
                <a:solidFill>
                  <a:schemeClr val="bg2">
                    <a:lumMod val="25000"/>
                  </a:schemeClr>
                </a:solidFill>
                <a:latin typeface="Coiny"/>
                <a:ea typeface="Coiny"/>
                <a:cs typeface="Coiny"/>
                <a:sym typeface="Coiny"/>
              </a:rPr>
              <a:t>UTR_prime</a:t>
            </a:r>
            <a:endParaRPr lang="en-US" sz="6000" u="none" strike="noStrike" dirty="0">
              <a:solidFill>
                <a:schemeClr val="bg2">
                  <a:lumMod val="25000"/>
                </a:schemeClr>
              </a:solidFill>
              <a:latin typeface="Coiny"/>
              <a:ea typeface="Coiny"/>
              <a:cs typeface="Coiny"/>
              <a:sym typeface="Coiny"/>
            </a:endParaRPr>
          </a:p>
        </p:txBody>
      </p:sp>
      <p:pic>
        <p:nvPicPr>
          <p:cNvPr id="20" name="Picture 15">
            <a:extLst>
              <a:ext uri="{FF2B5EF4-FFF2-40B4-BE49-F238E27FC236}">
                <a16:creationId xmlns:a16="http://schemas.microsoft.com/office/drawing/2014/main" id="{576E0F7F-4A4B-C6F2-406C-3A35F8FCDC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9080"/>
          <a:stretch/>
        </p:blipFill>
        <p:spPr>
          <a:xfrm>
            <a:off x="6470117" y="4294281"/>
            <a:ext cx="1209067" cy="1729049"/>
          </a:xfrm>
          <a:prstGeom prst="rect">
            <a:avLst/>
          </a:prstGeom>
        </p:spPr>
      </p:pic>
      <p:sp>
        <p:nvSpPr>
          <p:cNvPr id="21" name="TextBox 14">
            <a:extLst>
              <a:ext uri="{FF2B5EF4-FFF2-40B4-BE49-F238E27FC236}">
                <a16:creationId xmlns:a16="http://schemas.microsoft.com/office/drawing/2014/main" id="{8381063D-28C2-3362-702A-9415F0C57320}"/>
              </a:ext>
            </a:extLst>
          </p:cNvPr>
          <p:cNvSpPr txBox="1"/>
          <p:nvPr/>
        </p:nvSpPr>
        <p:spPr>
          <a:xfrm>
            <a:off x="7806066" y="5988268"/>
            <a:ext cx="827213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7020"/>
              </a:lnSpc>
              <a:spcBef>
                <a:spcPct val="0"/>
              </a:spcBef>
            </a:pPr>
            <a:r>
              <a:rPr lang="en-US" sz="6000" u="none" strike="noStrike" dirty="0">
                <a:solidFill>
                  <a:schemeClr val="bg2">
                    <a:lumMod val="25000"/>
                  </a:schemeClr>
                </a:solidFill>
                <a:latin typeface="Coiny"/>
                <a:ea typeface="Coiny"/>
                <a:cs typeface="Coiny"/>
                <a:sym typeface="Coiny"/>
              </a:rPr>
              <a:t>NMD</a:t>
            </a:r>
          </a:p>
        </p:txBody>
      </p:sp>
      <p:pic>
        <p:nvPicPr>
          <p:cNvPr id="22" name="Picture 15">
            <a:extLst>
              <a:ext uri="{FF2B5EF4-FFF2-40B4-BE49-F238E27FC236}">
                <a16:creationId xmlns:a16="http://schemas.microsoft.com/office/drawing/2014/main" id="{C484BE4F-64D6-DFCB-645D-B4C868F162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9080"/>
          <a:stretch/>
        </p:blipFill>
        <p:spPr>
          <a:xfrm>
            <a:off x="6502067" y="5538725"/>
            <a:ext cx="1209067" cy="1729049"/>
          </a:xfrm>
          <a:prstGeom prst="rect">
            <a:avLst/>
          </a:prstGeom>
        </p:spPr>
      </p:pic>
      <p:sp>
        <p:nvSpPr>
          <p:cNvPr id="23" name="TextBox 14">
            <a:extLst>
              <a:ext uri="{FF2B5EF4-FFF2-40B4-BE49-F238E27FC236}">
                <a16:creationId xmlns:a16="http://schemas.microsoft.com/office/drawing/2014/main" id="{41AF5281-DCF7-8502-9A45-5350DA79AA9F}"/>
              </a:ext>
            </a:extLst>
          </p:cNvPr>
          <p:cNvSpPr txBox="1"/>
          <p:nvPr/>
        </p:nvSpPr>
        <p:spPr>
          <a:xfrm>
            <a:off x="7806066" y="7203122"/>
            <a:ext cx="827213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7020"/>
              </a:lnSpc>
              <a:spcBef>
                <a:spcPct val="0"/>
              </a:spcBef>
            </a:pPr>
            <a:r>
              <a:rPr lang="en-US" sz="6000" u="none" strike="noStrike" dirty="0">
                <a:solidFill>
                  <a:schemeClr val="bg2">
                    <a:lumMod val="25000"/>
                  </a:schemeClr>
                </a:solidFill>
                <a:latin typeface="Coiny"/>
                <a:ea typeface="Coiny"/>
                <a:cs typeface="Coiny"/>
                <a:sym typeface="Coiny"/>
              </a:rPr>
              <a:t>Downstream Gene</a:t>
            </a:r>
          </a:p>
        </p:txBody>
      </p:sp>
      <p:pic>
        <p:nvPicPr>
          <p:cNvPr id="24" name="Picture 15">
            <a:extLst>
              <a:ext uri="{FF2B5EF4-FFF2-40B4-BE49-F238E27FC236}">
                <a16:creationId xmlns:a16="http://schemas.microsoft.com/office/drawing/2014/main" id="{AC2E5ED7-D729-4F2A-E8D0-89E375DB0B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9080"/>
          <a:stretch/>
        </p:blipFill>
        <p:spPr>
          <a:xfrm>
            <a:off x="6502067" y="6753579"/>
            <a:ext cx="1209067" cy="1729049"/>
          </a:xfrm>
          <a:prstGeom prst="rect">
            <a:avLst/>
          </a:prstGeom>
        </p:spPr>
      </p:pic>
      <p:sp>
        <p:nvSpPr>
          <p:cNvPr id="13" name="Freeform 13">
            <a:extLst>
              <a:ext uri="{FF2B5EF4-FFF2-40B4-BE49-F238E27FC236}">
                <a16:creationId xmlns:a16="http://schemas.microsoft.com/office/drawing/2014/main" id="{138B2D69-D313-F96A-4407-A41EFA230B2D}"/>
              </a:ext>
            </a:extLst>
          </p:cNvPr>
          <p:cNvSpPr/>
          <p:nvPr/>
        </p:nvSpPr>
        <p:spPr>
          <a:xfrm>
            <a:off x="2778030" y="3322893"/>
            <a:ext cx="3622770" cy="4809332"/>
          </a:xfrm>
          <a:custGeom>
            <a:avLst/>
            <a:gdLst/>
            <a:ahLst/>
            <a:cxnLst/>
            <a:rect l="l" t="t" r="r" b="b"/>
            <a:pathLst>
              <a:path w="3303341" h="4809332">
                <a:moveTo>
                  <a:pt x="0" y="0"/>
                </a:moveTo>
                <a:lnTo>
                  <a:pt x="3303341" y="0"/>
                </a:lnTo>
                <a:lnTo>
                  <a:pt x="3303341" y="4809331"/>
                </a:lnTo>
                <a:lnTo>
                  <a:pt x="0" y="4809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162D3195-47C7-6384-8D5E-BF8BB1AC794D}"/>
              </a:ext>
            </a:extLst>
          </p:cNvPr>
          <p:cNvSpPr txBox="1"/>
          <p:nvPr/>
        </p:nvSpPr>
        <p:spPr>
          <a:xfrm>
            <a:off x="3006630" y="4138471"/>
            <a:ext cx="3303341" cy="332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400" b="0" i="0" dirty="0">
                <a:solidFill>
                  <a:srgbClr val="333333"/>
                </a:solidFill>
                <a:effectLst/>
                <a:latin typeface="Core Bandi Face" panose="020B0604020202020204" charset="-127"/>
                <a:ea typeface="Core Bandi Face" panose="020B0604020202020204" charset="-127"/>
              </a:rPr>
              <a:t>Longest ORF </a:t>
            </a:r>
          </a:p>
          <a:p>
            <a:pPr algn="ctr"/>
            <a:r>
              <a:rPr lang="en-US" sz="2400" b="0" i="0" dirty="0">
                <a:solidFill>
                  <a:srgbClr val="333333"/>
                </a:solidFill>
                <a:effectLst/>
                <a:latin typeface="Core Bandi Face" panose="020B0604020202020204" charset="-127"/>
                <a:ea typeface="Core Bandi Face" panose="020B0604020202020204" charset="-127"/>
              </a:rPr>
              <a:t>Reference APC</a:t>
            </a:r>
            <a:br>
              <a:rPr lang="en-US" sz="2400" b="0" i="0" dirty="0">
                <a:solidFill>
                  <a:srgbClr val="333333"/>
                </a:solidFill>
                <a:effectLst/>
                <a:latin typeface="Core Bandi Face" panose="020B0604020202020204" charset="-127"/>
                <a:ea typeface="Core Bandi Face" panose="020B0604020202020204" charset="-127"/>
              </a:rPr>
            </a:br>
            <a:r>
              <a:rPr lang="en-US" sz="2400" b="0" i="0" dirty="0">
                <a:solidFill>
                  <a:srgbClr val="333333"/>
                </a:solidFill>
                <a:effectLst/>
                <a:latin typeface="Core Bandi Face" panose="020B0604020202020204" charset="-127"/>
                <a:ea typeface="Core Bandi Face" panose="020B0604020202020204" charset="-127"/>
              </a:rPr>
              <a:t>Length: 2194 amino acids </a:t>
            </a:r>
          </a:p>
          <a:p>
            <a:pPr algn="ctr"/>
            <a:endParaRPr lang="en-US" sz="2400" dirty="0">
              <a:solidFill>
                <a:srgbClr val="333333"/>
              </a:solidFill>
              <a:latin typeface="Core Bandi Face" panose="020B0604020202020204" charset="-127"/>
              <a:ea typeface="Core Bandi Face" panose="020B0604020202020204" charset="-127"/>
            </a:endParaRPr>
          </a:p>
          <a:p>
            <a:pPr algn="ctr"/>
            <a:r>
              <a:rPr lang="en-US" sz="2400" b="1" dirty="0">
                <a:solidFill>
                  <a:srgbClr val="333333"/>
                </a:solidFill>
                <a:latin typeface="Core Bandi Face" panose="020B0604020202020204" charset="-127"/>
                <a:ea typeface="Core Bandi Face" panose="020B0604020202020204" charset="-127"/>
              </a:rPr>
              <a:t>VS</a:t>
            </a:r>
          </a:p>
          <a:p>
            <a:pPr algn="ctr"/>
            <a:endParaRPr lang="en-US" sz="2400" dirty="0">
              <a:solidFill>
                <a:srgbClr val="333333"/>
              </a:solidFill>
              <a:latin typeface="Core Bandi Face" panose="020B0604020202020204" charset="-127"/>
              <a:ea typeface="Core Bandi Face" panose="020B0604020202020204" charset="-127"/>
            </a:endParaRPr>
          </a:p>
          <a:p>
            <a:pPr algn="ctr"/>
            <a:r>
              <a:rPr lang="en-US" sz="2400" b="0" i="0" dirty="0">
                <a:solidFill>
                  <a:srgbClr val="333333"/>
                </a:solidFill>
                <a:effectLst/>
                <a:latin typeface="Core Bandi Face" panose="020B0604020202020204" charset="-127"/>
                <a:ea typeface="Core Bandi Face" panose="020B0604020202020204" charset="-127"/>
              </a:rPr>
              <a:t>Longest ORF </a:t>
            </a:r>
          </a:p>
          <a:p>
            <a:pPr algn="ctr"/>
            <a:r>
              <a:rPr lang="en-US" sz="2400" dirty="0">
                <a:solidFill>
                  <a:srgbClr val="333333"/>
                </a:solidFill>
                <a:latin typeface="Core Bandi Face" panose="020B0604020202020204" charset="-127"/>
                <a:ea typeface="Core Bandi Face" panose="020B0604020202020204" charset="-127"/>
              </a:rPr>
              <a:t>Sample 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Core Bandi Face" panose="020B0604020202020204" charset="-127"/>
                <a:ea typeface="Core Bandi Face" panose="020B0604020202020204" charset="-127"/>
              </a:rPr>
              <a:t>Variant</a:t>
            </a:r>
          </a:p>
          <a:p>
            <a:pPr algn="ctr"/>
            <a:r>
              <a:rPr lang="en-US" sz="2400" b="0" i="0" dirty="0">
                <a:solidFill>
                  <a:srgbClr val="333333"/>
                </a:solidFill>
                <a:effectLst/>
                <a:latin typeface="Core Bandi Face" panose="020B0604020202020204" charset="-127"/>
                <a:ea typeface="Core Bandi Face" panose="020B0604020202020204" charset="-127"/>
              </a:rPr>
              <a:t>Length: 1381 amino acids </a:t>
            </a:r>
          </a:p>
        </p:txBody>
      </p:sp>
      <p:sp>
        <p:nvSpPr>
          <p:cNvPr id="17" name="Freeform 2">
            <a:extLst>
              <a:ext uri="{FF2B5EF4-FFF2-40B4-BE49-F238E27FC236}">
                <a16:creationId xmlns:a16="http://schemas.microsoft.com/office/drawing/2014/main" id="{E2F18405-6403-F253-CBD1-84EE9E446C9A}"/>
              </a:ext>
            </a:extLst>
          </p:cNvPr>
          <p:cNvSpPr/>
          <p:nvPr/>
        </p:nvSpPr>
        <p:spPr>
          <a:xfrm flipH="1" flipV="1">
            <a:off x="10516940" y="-4262486"/>
            <a:ext cx="11321058" cy="9612607"/>
          </a:xfrm>
          <a:custGeom>
            <a:avLst/>
            <a:gdLst/>
            <a:ahLst/>
            <a:cxnLst/>
            <a:rect l="l" t="t" r="r" b="b"/>
            <a:pathLst>
              <a:path w="11321058" h="9612607">
                <a:moveTo>
                  <a:pt x="11321058" y="9612607"/>
                </a:moveTo>
                <a:lnTo>
                  <a:pt x="0" y="9612607"/>
                </a:lnTo>
                <a:lnTo>
                  <a:pt x="0" y="0"/>
                </a:lnTo>
                <a:lnTo>
                  <a:pt x="11321058" y="0"/>
                </a:lnTo>
                <a:lnTo>
                  <a:pt x="11321058" y="9612607"/>
                </a:lnTo>
                <a:close/>
              </a:path>
            </a:pathLst>
          </a:custGeom>
          <a:blipFill>
            <a:blip r:embed="rId5">
              <a:alphaModFix amt="1063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66128308-DD96-70DC-7EFC-39684B783409}"/>
              </a:ext>
            </a:extLst>
          </p:cNvPr>
          <p:cNvSpPr/>
          <p:nvPr/>
        </p:nvSpPr>
        <p:spPr>
          <a:xfrm>
            <a:off x="-3549998" y="4936879"/>
            <a:ext cx="11321058" cy="9612607"/>
          </a:xfrm>
          <a:custGeom>
            <a:avLst/>
            <a:gdLst/>
            <a:ahLst/>
            <a:cxnLst/>
            <a:rect l="l" t="t" r="r" b="b"/>
            <a:pathLst>
              <a:path w="11321058" h="9612607">
                <a:moveTo>
                  <a:pt x="0" y="0"/>
                </a:moveTo>
                <a:lnTo>
                  <a:pt x="11321058" y="0"/>
                </a:lnTo>
                <a:lnTo>
                  <a:pt x="11321058" y="9612607"/>
                </a:lnTo>
                <a:lnTo>
                  <a:pt x="0" y="9612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63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0516940" y="-4262486"/>
            <a:ext cx="11321058" cy="9612607"/>
          </a:xfrm>
          <a:custGeom>
            <a:avLst/>
            <a:gdLst/>
            <a:ahLst/>
            <a:cxnLst/>
            <a:rect l="l" t="t" r="r" b="b"/>
            <a:pathLst>
              <a:path w="11321058" h="9612607">
                <a:moveTo>
                  <a:pt x="11321058" y="9612607"/>
                </a:moveTo>
                <a:lnTo>
                  <a:pt x="0" y="9612607"/>
                </a:lnTo>
                <a:lnTo>
                  <a:pt x="0" y="0"/>
                </a:lnTo>
                <a:lnTo>
                  <a:pt x="11321058" y="0"/>
                </a:lnTo>
                <a:lnTo>
                  <a:pt x="11321058" y="9612607"/>
                </a:lnTo>
                <a:close/>
              </a:path>
            </a:pathLst>
          </a:custGeom>
          <a:blipFill>
            <a:blip r:embed="rId2">
              <a:alphaModFix amt="1063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549998" y="4936879"/>
            <a:ext cx="11321058" cy="9612607"/>
          </a:xfrm>
          <a:custGeom>
            <a:avLst/>
            <a:gdLst/>
            <a:ahLst/>
            <a:cxnLst/>
            <a:rect l="l" t="t" r="r" b="b"/>
            <a:pathLst>
              <a:path w="11321058" h="9612607">
                <a:moveTo>
                  <a:pt x="0" y="0"/>
                </a:moveTo>
                <a:lnTo>
                  <a:pt x="11321058" y="0"/>
                </a:lnTo>
                <a:lnTo>
                  <a:pt x="11321058" y="9612607"/>
                </a:lnTo>
                <a:lnTo>
                  <a:pt x="0" y="96126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63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503181" y="1709170"/>
            <a:ext cx="13281638" cy="121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79"/>
              </a:lnSpc>
            </a:pPr>
            <a:r>
              <a:rPr lang="en-US" sz="8499" dirty="0">
                <a:solidFill>
                  <a:srgbClr val="43A8B0"/>
                </a:solidFill>
                <a:latin typeface="Coiny"/>
                <a:ea typeface="Coiny"/>
                <a:cs typeface="Coiny"/>
                <a:sym typeface="Coiny"/>
              </a:rPr>
              <a:t>Conclusion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66063" y="2978507"/>
            <a:ext cx="9653466" cy="5747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sz="2800" dirty="0">
                <a:solidFill>
                  <a:srgbClr val="333333"/>
                </a:solidFill>
                <a:latin typeface="Core Bandi Face" panose="020B0604020202020204" charset="-127"/>
                <a:ea typeface="Core Bandi Face" panose="020B0604020202020204" charset="-127"/>
              </a:rPr>
              <a:t>Mutation on the Coding Site of the APC gene (Exon 16)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333333"/>
                </a:solidFill>
                <a:latin typeface="Core Bandi Face" panose="020B0604020202020204" charset="-127"/>
                <a:ea typeface="Core Bandi Face" panose="020B0604020202020204" charset="-127"/>
              </a:rPr>
              <a:t>-&gt; Gene is expressed during transcription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sz="2800" dirty="0">
                <a:solidFill>
                  <a:srgbClr val="333333"/>
                </a:solidFill>
                <a:latin typeface="Core Bandi Face" panose="020B0604020202020204" charset="-127"/>
                <a:ea typeface="Core Bandi Face" panose="020B0604020202020204" charset="-127"/>
              </a:rPr>
              <a:t>Mutation is a deletion -&gt; Frame-Shift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sz="2800" dirty="0">
                <a:solidFill>
                  <a:srgbClr val="333333"/>
                </a:solidFill>
                <a:latin typeface="Core Bandi Face" panose="020B0604020202020204" charset="-127"/>
                <a:ea typeface="Core Bandi Face" panose="020B0604020202020204" charset="-127"/>
              </a:rPr>
              <a:t>NMD, Shorten Protein, Misfolded Protein 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sz="2800" b="0" i="0" dirty="0">
                <a:solidFill>
                  <a:srgbClr val="333333"/>
                </a:solidFill>
                <a:effectLst/>
                <a:latin typeface="Core Bandi Face" panose="020B0604020202020204" charset="-127"/>
                <a:ea typeface="Core Bandi Face" panose="020B0604020202020204" charset="-127"/>
              </a:rPr>
              <a:t>Missing / Non-functional Marker (+ Toxic Build Up)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sz="2800" dirty="0">
                <a:solidFill>
                  <a:srgbClr val="333333"/>
                </a:solidFill>
                <a:latin typeface="Core Bandi Face" panose="020B0604020202020204" charset="-127"/>
                <a:ea typeface="Core Bandi Face" panose="020B0604020202020204" charset="-127"/>
              </a:rPr>
              <a:t>APC is a cell growth regulating gene </a:t>
            </a:r>
            <a:br>
              <a:rPr lang="en-US" sz="2800" dirty="0">
                <a:solidFill>
                  <a:srgbClr val="333333"/>
                </a:solidFill>
                <a:latin typeface="Core Bandi Face" panose="020B0604020202020204" charset="-127"/>
                <a:ea typeface="Core Bandi Face" panose="020B0604020202020204" charset="-127"/>
              </a:rPr>
            </a:br>
            <a:r>
              <a:rPr lang="en-US" sz="2800" dirty="0">
                <a:solidFill>
                  <a:srgbClr val="333333"/>
                </a:solidFill>
                <a:latin typeface="Core Bandi Face" panose="020B0604020202020204" charset="-127"/>
                <a:ea typeface="Core Bandi Face" panose="020B0604020202020204" charset="-127"/>
              </a:rPr>
              <a:t>(in binding to beta-catenin, to mark a cell for destruction)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333333"/>
                </a:solidFill>
                <a:latin typeface="Core Bandi Face" panose="020B0604020202020204" charset="-127"/>
                <a:ea typeface="Core Bandi Face" panose="020B0604020202020204" charset="-127"/>
              </a:rPr>
              <a:t>-&gt; Studies: ~80–90% of colon cancers involve APC mutations</a:t>
            </a:r>
            <a:endParaRPr lang="en-US" sz="2800" b="0" i="0" dirty="0">
              <a:solidFill>
                <a:srgbClr val="333333"/>
              </a:solidFill>
              <a:effectLst/>
              <a:latin typeface="Core Bandi Face" panose="020B0604020202020204" charset="-127"/>
              <a:ea typeface="Core Bandi Face" panose="020B0604020202020204" charset="-127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sz="2800" b="0" i="0" dirty="0">
                <a:solidFill>
                  <a:srgbClr val="333333"/>
                </a:solidFill>
                <a:effectLst/>
                <a:latin typeface="Core Bandi Face" panose="020B0604020202020204" charset="-127"/>
                <a:ea typeface="Core Bandi Face" panose="020B0604020202020204" charset="-127"/>
              </a:rPr>
              <a:t>Proof of possible malignant mutation is found in our sample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61245" y="3619182"/>
            <a:ext cx="7331320" cy="815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br>
              <a:rPr lang="en-US" sz="2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en-US" sz="2499" dirty="0">
              <a:solidFill>
                <a:srgbClr val="2E2E30"/>
              </a:solidFill>
              <a:latin typeface="Core Bandi Face"/>
              <a:ea typeface="Core Bandi Face"/>
              <a:cs typeface="Core Bandi Face"/>
              <a:sym typeface="Core Bandi Face"/>
            </a:endParaRPr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B0124FA1-52A2-9B85-C251-D8F14892CFAE}"/>
              </a:ext>
            </a:extLst>
          </p:cNvPr>
          <p:cNvSpPr/>
          <p:nvPr/>
        </p:nvSpPr>
        <p:spPr>
          <a:xfrm flipH="1">
            <a:off x="76200" y="6172200"/>
            <a:ext cx="2921508" cy="4114800"/>
          </a:xfrm>
          <a:custGeom>
            <a:avLst/>
            <a:gdLst/>
            <a:ahLst/>
            <a:cxnLst/>
            <a:rect l="l" t="t" r="r" b="b"/>
            <a:pathLst>
              <a:path w="2921508" h="4114800">
                <a:moveTo>
                  <a:pt x="2921508" y="0"/>
                </a:moveTo>
                <a:lnTo>
                  <a:pt x="0" y="0"/>
                </a:lnTo>
                <a:lnTo>
                  <a:pt x="0" y="4114800"/>
                </a:lnTo>
                <a:lnTo>
                  <a:pt x="2921508" y="4114800"/>
                </a:lnTo>
                <a:lnTo>
                  <a:pt x="292150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0">
            <a:extLst>
              <a:ext uri="{FF2B5EF4-FFF2-40B4-BE49-F238E27FC236}">
                <a16:creationId xmlns:a16="http://schemas.microsoft.com/office/drawing/2014/main" id="{AE378FD1-2AEC-72EE-99E7-125C9A38990D}"/>
              </a:ext>
            </a:extLst>
          </p:cNvPr>
          <p:cNvSpPr/>
          <p:nvPr/>
        </p:nvSpPr>
        <p:spPr>
          <a:xfrm>
            <a:off x="14859000" y="187527"/>
            <a:ext cx="3332932" cy="2487201"/>
          </a:xfrm>
          <a:custGeom>
            <a:avLst/>
            <a:gdLst/>
            <a:ahLst/>
            <a:cxnLst/>
            <a:rect l="l" t="t" r="r" b="b"/>
            <a:pathLst>
              <a:path w="3332932" h="2487201">
                <a:moveTo>
                  <a:pt x="0" y="0"/>
                </a:moveTo>
                <a:lnTo>
                  <a:pt x="3332932" y="0"/>
                </a:lnTo>
                <a:lnTo>
                  <a:pt x="3332932" y="2487201"/>
                </a:lnTo>
                <a:lnTo>
                  <a:pt x="0" y="24872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0516940" y="-4262486"/>
            <a:ext cx="11321058" cy="9612607"/>
          </a:xfrm>
          <a:custGeom>
            <a:avLst/>
            <a:gdLst/>
            <a:ahLst/>
            <a:cxnLst/>
            <a:rect l="l" t="t" r="r" b="b"/>
            <a:pathLst>
              <a:path w="11321058" h="9612607">
                <a:moveTo>
                  <a:pt x="11321058" y="9612607"/>
                </a:moveTo>
                <a:lnTo>
                  <a:pt x="0" y="9612607"/>
                </a:lnTo>
                <a:lnTo>
                  <a:pt x="0" y="0"/>
                </a:lnTo>
                <a:lnTo>
                  <a:pt x="11321058" y="0"/>
                </a:lnTo>
                <a:lnTo>
                  <a:pt x="11321058" y="9612607"/>
                </a:lnTo>
                <a:close/>
              </a:path>
            </a:pathLst>
          </a:custGeom>
          <a:blipFill>
            <a:blip r:embed="rId2">
              <a:alphaModFix amt="1063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549998" y="4936879"/>
            <a:ext cx="11321058" cy="9612607"/>
          </a:xfrm>
          <a:custGeom>
            <a:avLst/>
            <a:gdLst/>
            <a:ahLst/>
            <a:cxnLst/>
            <a:rect l="l" t="t" r="r" b="b"/>
            <a:pathLst>
              <a:path w="11321058" h="9612607">
                <a:moveTo>
                  <a:pt x="0" y="0"/>
                </a:moveTo>
                <a:lnTo>
                  <a:pt x="11321058" y="0"/>
                </a:lnTo>
                <a:lnTo>
                  <a:pt x="11321058" y="9612607"/>
                </a:lnTo>
                <a:lnTo>
                  <a:pt x="0" y="96126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63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798546" y="3086100"/>
            <a:ext cx="2921508" cy="4114800"/>
          </a:xfrm>
          <a:custGeom>
            <a:avLst/>
            <a:gdLst/>
            <a:ahLst/>
            <a:cxnLst/>
            <a:rect l="l" t="t" r="r" b="b"/>
            <a:pathLst>
              <a:path w="2921508" h="4114800">
                <a:moveTo>
                  <a:pt x="2921508" y="0"/>
                </a:moveTo>
                <a:lnTo>
                  <a:pt x="0" y="0"/>
                </a:lnTo>
                <a:lnTo>
                  <a:pt x="0" y="4114800"/>
                </a:lnTo>
                <a:lnTo>
                  <a:pt x="2921508" y="4114800"/>
                </a:lnTo>
                <a:lnTo>
                  <a:pt x="292150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729536">
            <a:off x="15364783" y="-453005"/>
            <a:ext cx="2910286" cy="4114800"/>
          </a:xfrm>
          <a:custGeom>
            <a:avLst/>
            <a:gdLst/>
            <a:ahLst/>
            <a:cxnLst/>
            <a:rect l="l" t="t" r="r" b="b"/>
            <a:pathLst>
              <a:path w="2910286" h="4114800">
                <a:moveTo>
                  <a:pt x="0" y="0"/>
                </a:moveTo>
                <a:lnTo>
                  <a:pt x="2910286" y="0"/>
                </a:lnTo>
                <a:lnTo>
                  <a:pt x="2910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592834" y="7655089"/>
            <a:ext cx="3332932" cy="2487201"/>
          </a:xfrm>
          <a:custGeom>
            <a:avLst/>
            <a:gdLst/>
            <a:ahLst/>
            <a:cxnLst/>
            <a:rect l="l" t="t" r="r" b="b"/>
            <a:pathLst>
              <a:path w="3332932" h="2487201">
                <a:moveTo>
                  <a:pt x="0" y="0"/>
                </a:moveTo>
                <a:lnTo>
                  <a:pt x="3332932" y="0"/>
                </a:lnTo>
                <a:lnTo>
                  <a:pt x="3332932" y="2487201"/>
                </a:lnTo>
                <a:lnTo>
                  <a:pt x="0" y="24872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536098" flipV="1">
            <a:off x="-259362" y="6549457"/>
            <a:ext cx="2910286" cy="4114800"/>
          </a:xfrm>
          <a:custGeom>
            <a:avLst/>
            <a:gdLst/>
            <a:ahLst/>
            <a:cxnLst/>
            <a:rect l="l" t="t" r="r" b="b"/>
            <a:pathLst>
              <a:path w="2910286" h="4114800">
                <a:moveTo>
                  <a:pt x="0" y="4114800"/>
                </a:moveTo>
                <a:lnTo>
                  <a:pt x="2910286" y="4114800"/>
                </a:lnTo>
                <a:lnTo>
                  <a:pt x="291028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285086" y="-1174503"/>
            <a:ext cx="5656480" cy="5274668"/>
          </a:xfrm>
          <a:custGeom>
            <a:avLst/>
            <a:gdLst/>
            <a:ahLst/>
            <a:cxnLst/>
            <a:rect l="l" t="t" r="r" b="b"/>
            <a:pathLst>
              <a:path w="5656480" h="5274668">
                <a:moveTo>
                  <a:pt x="0" y="0"/>
                </a:moveTo>
                <a:lnTo>
                  <a:pt x="5656480" y="0"/>
                </a:lnTo>
                <a:lnTo>
                  <a:pt x="5656480" y="5274668"/>
                </a:lnTo>
                <a:lnTo>
                  <a:pt x="0" y="52746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917600" y="2896265"/>
            <a:ext cx="2921508" cy="4114800"/>
          </a:xfrm>
          <a:custGeom>
            <a:avLst/>
            <a:gdLst/>
            <a:ahLst/>
            <a:cxnLst/>
            <a:rect l="l" t="t" r="r" b="b"/>
            <a:pathLst>
              <a:path w="2921508" h="4114800">
                <a:moveTo>
                  <a:pt x="0" y="0"/>
                </a:moveTo>
                <a:lnTo>
                  <a:pt x="2921508" y="0"/>
                </a:lnTo>
                <a:lnTo>
                  <a:pt x="2921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637766" y="219230"/>
            <a:ext cx="3332932" cy="2487201"/>
          </a:xfrm>
          <a:custGeom>
            <a:avLst/>
            <a:gdLst/>
            <a:ahLst/>
            <a:cxnLst/>
            <a:rect l="l" t="t" r="r" b="b"/>
            <a:pathLst>
              <a:path w="3332932" h="2487201">
                <a:moveTo>
                  <a:pt x="0" y="0"/>
                </a:moveTo>
                <a:lnTo>
                  <a:pt x="3332932" y="0"/>
                </a:lnTo>
                <a:lnTo>
                  <a:pt x="3332932" y="2487201"/>
                </a:lnTo>
                <a:lnTo>
                  <a:pt x="0" y="24872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2841132" y="361647"/>
            <a:ext cx="3597864" cy="1831640"/>
          </a:xfrm>
          <a:custGeom>
            <a:avLst/>
            <a:gdLst/>
            <a:ahLst/>
            <a:cxnLst/>
            <a:rect l="l" t="t" r="r" b="b"/>
            <a:pathLst>
              <a:path w="3597864" h="1831640">
                <a:moveTo>
                  <a:pt x="3597864" y="0"/>
                </a:moveTo>
                <a:lnTo>
                  <a:pt x="0" y="0"/>
                </a:lnTo>
                <a:lnTo>
                  <a:pt x="0" y="1831640"/>
                </a:lnTo>
                <a:lnTo>
                  <a:pt x="3597864" y="1831640"/>
                </a:lnTo>
                <a:lnTo>
                  <a:pt x="3597864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752999" y="7011065"/>
            <a:ext cx="2839835" cy="3632347"/>
          </a:xfrm>
          <a:custGeom>
            <a:avLst/>
            <a:gdLst/>
            <a:ahLst/>
            <a:cxnLst/>
            <a:rect l="l" t="t" r="r" b="b"/>
            <a:pathLst>
              <a:path w="2839835" h="3632347">
                <a:moveTo>
                  <a:pt x="0" y="0"/>
                </a:moveTo>
                <a:lnTo>
                  <a:pt x="2839835" y="0"/>
                </a:lnTo>
                <a:lnTo>
                  <a:pt x="2839835" y="3632347"/>
                </a:lnTo>
                <a:lnTo>
                  <a:pt x="0" y="363234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672572">
            <a:off x="13991686" y="6072603"/>
            <a:ext cx="5656480" cy="5274668"/>
          </a:xfrm>
          <a:custGeom>
            <a:avLst/>
            <a:gdLst/>
            <a:ahLst/>
            <a:cxnLst/>
            <a:rect l="l" t="t" r="r" b="b"/>
            <a:pathLst>
              <a:path w="5656480" h="5274668">
                <a:moveTo>
                  <a:pt x="0" y="0"/>
                </a:moveTo>
                <a:lnTo>
                  <a:pt x="5656480" y="0"/>
                </a:lnTo>
                <a:lnTo>
                  <a:pt x="5656480" y="5274668"/>
                </a:lnTo>
                <a:lnTo>
                  <a:pt x="0" y="52746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516908" y="3429404"/>
            <a:ext cx="13281638" cy="2018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80"/>
              </a:lnSpc>
            </a:pPr>
            <a:r>
              <a:rPr lang="en-US" sz="14333">
                <a:solidFill>
                  <a:srgbClr val="43A8B0"/>
                </a:solidFill>
                <a:latin typeface="Coiny"/>
                <a:ea typeface="Coiny"/>
                <a:cs typeface="Coiny"/>
                <a:sym typeface="Coiny"/>
              </a:rPr>
              <a:t>THANK YOU</a:t>
            </a:r>
          </a:p>
        </p:txBody>
      </p:sp>
      <p:sp>
        <p:nvSpPr>
          <p:cNvPr id="15" name="Freeform 15"/>
          <p:cNvSpPr/>
          <p:nvPr/>
        </p:nvSpPr>
        <p:spPr>
          <a:xfrm rot="-534184" flipH="1">
            <a:off x="7811325" y="5623305"/>
            <a:ext cx="2692805" cy="1610787"/>
          </a:xfrm>
          <a:custGeom>
            <a:avLst/>
            <a:gdLst/>
            <a:ahLst/>
            <a:cxnLst/>
            <a:rect l="l" t="t" r="r" b="b"/>
            <a:pathLst>
              <a:path w="2692805" h="1610787">
                <a:moveTo>
                  <a:pt x="2692805" y="0"/>
                </a:moveTo>
                <a:lnTo>
                  <a:pt x="0" y="0"/>
                </a:lnTo>
                <a:lnTo>
                  <a:pt x="0" y="1610787"/>
                </a:lnTo>
                <a:lnTo>
                  <a:pt x="2692805" y="1610787"/>
                </a:lnTo>
                <a:lnTo>
                  <a:pt x="2692805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406123" y="6077861"/>
            <a:ext cx="3503209" cy="61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2E2E3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Microsoft Office PowerPoint</Application>
  <PresentationFormat>Benutzerdefiniert</PresentationFormat>
  <Paragraphs>90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Coiny</vt:lpstr>
      <vt:lpstr>Consolas</vt:lpstr>
      <vt:lpstr>Arial</vt:lpstr>
      <vt:lpstr>Calibri</vt:lpstr>
      <vt:lpstr>Core Bandi Face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Peach Playful Science and Research Group Project Presentation</dc:title>
  <cp:lastModifiedBy>Pascal Luc</cp:lastModifiedBy>
  <cp:revision>18</cp:revision>
  <dcterms:created xsi:type="dcterms:W3CDTF">2006-08-16T00:00:00Z</dcterms:created>
  <dcterms:modified xsi:type="dcterms:W3CDTF">2026-04-11T10:52:56Z</dcterms:modified>
  <dc:identifier>DAHGWGE25kk</dc:identifier>
</cp:coreProperties>
</file>