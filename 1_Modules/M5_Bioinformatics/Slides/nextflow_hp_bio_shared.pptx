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4d80f44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4d80f44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4d80f444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d4d80f444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4d80f44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4d80f44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f4a5438c9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0f4a5438c9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1137e82f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1137e82f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1137e82f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1137e82f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1137e82f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1137e82f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1137e82f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1137e82f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1137e82f0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1137e82f0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f4a5438c9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f4a5438c9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f4a5438c9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f4a5438c9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4ed13efc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d4ed13efc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4ed13efc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4ed13efc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Nextflow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550250" y="4476350"/>
            <a:ext cx="3389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</a:t>
            </a:r>
            <a:r>
              <a:rPr lang="en-GB">
                <a:solidFill>
                  <a:srgbClr val="000000"/>
                </a:solidFill>
              </a:rPr>
              <a:t> </a:t>
            </a:r>
            <a:r>
              <a:rPr lang="en-GB"/>
              <a:t>March</a:t>
            </a:r>
            <a:r>
              <a:rPr lang="en-GB">
                <a:solidFill>
                  <a:srgbClr val="000000"/>
                </a:solidFill>
              </a:rPr>
              <a:t>, 202</a:t>
            </a:r>
            <a:r>
              <a:rPr lang="en-GB"/>
              <a:t>6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logo of a company&#10;&#10;Description automatically generated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7011" y="233575"/>
            <a:ext cx="1141391" cy="59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344" y="168263"/>
            <a:ext cx="1724662" cy="5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9100" y="102975"/>
            <a:ext cx="524350" cy="7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What is a pipeline?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99100" y="1017725"/>
            <a:ext cx="226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Big data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~200GB for human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730725" y="4830325"/>
            <a:ext cx="7734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" name="Google Shape;66;p14"/>
          <p:cNvSpPr txBox="1"/>
          <p:nvPr/>
        </p:nvSpPr>
        <p:spPr>
          <a:xfrm>
            <a:off x="3957300" y="4422125"/>
            <a:ext cx="188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48 hours +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75" y="2242476"/>
            <a:ext cx="8520600" cy="19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158850" y="2022800"/>
            <a:ext cx="2029200" cy="25179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P</a:t>
            </a:r>
            <a:r>
              <a:rPr lang="en-GB"/>
              <a:t>ipelines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0177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Main challenges: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Data size and processing time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Reproducibility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</a:t>
            </a:r>
            <a:r>
              <a:rPr lang="en-GB" sz="1400">
                <a:solidFill>
                  <a:schemeClr val="dk1"/>
                </a:solidFill>
              </a:rPr>
              <a:t>synchronous and parallel tasks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750" y="863551"/>
            <a:ext cx="489189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Pipeline tools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900" y="3050188"/>
            <a:ext cx="3781274" cy="9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275" y="2298425"/>
            <a:ext cx="3781275" cy="7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5" y="2002623"/>
            <a:ext cx="2407450" cy="135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3402" y="2061312"/>
            <a:ext cx="1855724" cy="1236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4876" y="3022600"/>
            <a:ext cx="2143324" cy="14285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966225" y="143993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Fast setup for small pipelines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4750975" y="1403600"/>
            <a:ext cx="384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Reproducible, parallel pipelines for large data</a:t>
            </a:r>
            <a:endParaRPr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Nextflow key features - processes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363325" y="1217475"/>
            <a:ext cx="9819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 TRIM_QUALITY_FILTER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 reads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output: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 "reads_filtered.fastq", emit: filtered_reads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 "reads_trimmed.fastq", emit: trimmed_reads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script: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"""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fastx_trimmer -f 20 -l 240 -i ${reads} -o reads_trimmed.fastq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fastq_quality_filter -q 30 -p 95 -i reads_trimmed.fastq -o reads_filtered.fastq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"""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233800" y="2571750"/>
            <a:ext cx="8610600" cy="9924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233800" y="1485900"/>
            <a:ext cx="8610600" cy="9924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an Environment?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Different installation instructions for different OS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Repeat the process for each tool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How to share your code?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What if tool updates?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What if you need same tool but different versions?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5818725" y="1152475"/>
            <a:ext cx="2275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cyvcf2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figtree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samtools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phylip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numpy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pandas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seaborn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biopython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notebook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fastx_toolkit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fastqc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Courier New"/>
                <a:ea typeface="Courier New"/>
                <a:cs typeface="Courier New"/>
                <a:sym typeface="Courier New"/>
              </a:rPr>
              <a:t>- bcftools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5818725" y="556025"/>
            <a:ext cx="19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How to install it?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Environment management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Install software without conflicts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Keep different versions of the same tool for different projects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Ensure reproducibility over time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5383" y="878370"/>
            <a:ext cx="3066975" cy="635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264" y="2760350"/>
            <a:ext cx="2091187" cy="117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1500" y="1713025"/>
            <a:ext cx="3714701" cy="11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Conda</a:t>
            </a:r>
            <a:endParaRPr sz="2500"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152475"/>
            <a:ext cx="45378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Works on Windows, macOS, Linux.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Has its own repository of software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5249100" y="690775"/>
            <a:ext cx="35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environment</a:t>
            </a:r>
            <a:r>
              <a:rPr lang="en-GB" sz="1800">
                <a:solidFill>
                  <a:schemeClr val="dk1"/>
                </a:solidFill>
              </a:rPr>
              <a:t>.yml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5249100" y="1152475"/>
            <a:ext cx="4186500" cy="4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name: bio_pipeline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channels: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bioconda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conda-forge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defaults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dependencies: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cyvcf2=0.30.16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figtree=1.4.4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samtools=1.15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phylip=3.697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numpy=1.21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  - pandas=1.3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11700" y="2263675"/>
            <a:ext cx="4537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urier New"/>
                <a:ea typeface="Courier New"/>
                <a:cs typeface="Courier New"/>
                <a:sym typeface="Courier New"/>
              </a:rPr>
              <a:t>conda env create -f environment.yml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Courier New"/>
                <a:ea typeface="Courier New"/>
                <a:cs typeface="Courier New"/>
                <a:sym typeface="Courier New"/>
              </a:rPr>
              <a:t>conda create -n my_env python=3.8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Courier New"/>
                <a:ea typeface="Courier New"/>
                <a:cs typeface="Courier New"/>
                <a:sym typeface="Courier New"/>
              </a:rPr>
              <a:t>conda activate my_env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Courier New"/>
                <a:ea typeface="Courier New"/>
                <a:cs typeface="Courier New"/>
                <a:sym typeface="Courier New"/>
              </a:rPr>
              <a:t>conda install </a:t>
            </a:r>
            <a:r>
              <a:rPr lang="en-GB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samtools=1.15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latin typeface="Courier New"/>
                <a:ea typeface="Courier New"/>
                <a:cs typeface="Courier New"/>
                <a:sym typeface="Courier New"/>
              </a:rPr>
              <a:t>conda deactivate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 rotWithShape="1">
          <a:blip r:embed="rId3">
            <a:alphaModFix/>
          </a:blip>
          <a:srcRect b="22588" l="10598" r="74587" t="36787"/>
          <a:stretch/>
        </p:blipFill>
        <p:spPr>
          <a:xfrm>
            <a:off x="1519768" y="2685325"/>
            <a:ext cx="1050515" cy="162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21533" l="41826" r="41851" t="40966"/>
          <a:stretch/>
        </p:blipFill>
        <p:spPr>
          <a:xfrm>
            <a:off x="3934363" y="2531063"/>
            <a:ext cx="1492525" cy="192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19589" l="74060" r="11124" t="39787"/>
          <a:stretch/>
        </p:blipFill>
        <p:spPr>
          <a:xfrm>
            <a:off x="6632250" y="2450700"/>
            <a:ext cx="1354749" cy="20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760725" y="1106913"/>
            <a:ext cx="27753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Operating system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All the software you need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All the dependencies</a:t>
            </a:r>
            <a:endParaRPr sz="1100"/>
          </a:p>
        </p:txBody>
      </p:sp>
      <p:cxnSp>
        <p:nvCxnSpPr>
          <p:cNvPr id="139" name="Google Shape;139;p21"/>
          <p:cNvCxnSpPr>
            <a:stCxn id="138" idx="2"/>
            <a:endCxn id="138" idx="2"/>
          </p:cNvCxnSpPr>
          <p:nvPr/>
        </p:nvCxnSpPr>
        <p:spPr>
          <a:xfrm>
            <a:off x="2148375" y="236151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1"/>
          <p:cNvCxnSpPr/>
          <p:nvPr/>
        </p:nvCxnSpPr>
        <p:spPr>
          <a:xfrm flipH="1">
            <a:off x="2038425" y="2221525"/>
            <a:ext cx="13200" cy="46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1"/>
          <p:cNvCxnSpPr>
            <a:stCxn id="135" idx="3"/>
            <a:endCxn id="136" idx="1"/>
          </p:cNvCxnSpPr>
          <p:nvPr/>
        </p:nvCxnSpPr>
        <p:spPr>
          <a:xfrm>
            <a:off x="2570283" y="3495475"/>
            <a:ext cx="136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1"/>
          <p:cNvSpPr txBox="1"/>
          <p:nvPr/>
        </p:nvSpPr>
        <p:spPr>
          <a:xfrm>
            <a:off x="2922600" y="3033775"/>
            <a:ext cx="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Build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43" name="Google Shape;143;p21"/>
          <p:cNvCxnSpPr/>
          <p:nvPr/>
        </p:nvCxnSpPr>
        <p:spPr>
          <a:xfrm>
            <a:off x="5426874" y="3495475"/>
            <a:ext cx="120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1"/>
          <p:cNvSpPr txBox="1"/>
          <p:nvPr/>
        </p:nvSpPr>
        <p:spPr>
          <a:xfrm>
            <a:off x="5636850" y="3033775"/>
            <a:ext cx="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Run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Nextflow key features - processes</a:t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363325" y="1217475"/>
            <a:ext cx="9819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 TRIM_QUALITY_FILTER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conda: “Env_Genomics.yml”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container: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"ghcr.io/kondratievaolesya/bio_env:2"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 reads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output: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 "reads_filtered.fastq", emit: filtered_reads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path "reads_trimmed.fastq", emit: trimmed_reads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script: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"""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fastx_trimmer -f 20 -l 240 -i ${reads} -o reads_trimmed.fastq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fastq_quality_filter -q 30 -p 95 -i reads_trimmed.fastq -o reads_filtered.fastq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"""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11700" y="1470400"/>
            <a:ext cx="5431200" cy="3936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Nextflow key features - channels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2066088" y="1640625"/>
            <a:ext cx="2350800" cy="1446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 ALIGNMENT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path reads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output: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path "sorted.bam” ,emit: bam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433513" y="3253525"/>
            <a:ext cx="2350800" cy="1446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 VISUALIZATION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path sorted_bam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3698675" y="3253525"/>
            <a:ext cx="2350800" cy="1446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 VARIANT_CALLING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input: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path sorted_bam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1" name="Google Shape;161;p23"/>
          <p:cNvCxnSpPr>
            <a:stCxn id="158" idx="2"/>
            <a:endCxn id="159" idx="0"/>
          </p:cNvCxnSpPr>
          <p:nvPr/>
        </p:nvCxnSpPr>
        <p:spPr>
          <a:xfrm flipH="1">
            <a:off x="1608888" y="3087225"/>
            <a:ext cx="1632600" cy="16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>
            <a:stCxn id="158" idx="2"/>
            <a:endCxn id="160" idx="0"/>
          </p:cNvCxnSpPr>
          <p:nvPr/>
        </p:nvCxnSpPr>
        <p:spPr>
          <a:xfrm>
            <a:off x="3241488" y="3087225"/>
            <a:ext cx="1632600" cy="16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3"/>
          <p:cNvSpPr txBox="1"/>
          <p:nvPr/>
        </p:nvSpPr>
        <p:spPr>
          <a:xfrm>
            <a:off x="1693800" y="1017725"/>
            <a:ext cx="3230700" cy="369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Channel.fromPath("input/*.fastq")</a:t>
            </a:r>
            <a:endParaRPr/>
          </a:p>
        </p:txBody>
      </p:sp>
      <p:cxnSp>
        <p:nvCxnSpPr>
          <p:cNvPr id="164" name="Google Shape;164;p23"/>
          <p:cNvCxnSpPr>
            <a:stCxn id="163" idx="2"/>
            <a:endCxn id="158" idx="0"/>
          </p:cNvCxnSpPr>
          <p:nvPr/>
        </p:nvCxnSpPr>
        <p:spPr>
          <a:xfrm flipH="1">
            <a:off x="3241350" y="1387025"/>
            <a:ext cx="67800" cy="25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3"/>
          <p:cNvSpPr txBox="1"/>
          <p:nvPr/>
        </p:nvSpPr>
        <p:spPr>
          <a:xfrm>
            <a:off x="4874100" y="1017725"/>
            <a:ext cx="45390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 “reads1.fastq”, “reads2.fastq”...]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6" name="Google Shape;166;p23"/>
          <p:cNvCxnSpPr/>
          <p:nvPr/>
        </p:nvCxnSpPr>
        <p:spPr>
          <a:xfrm>
            <a:off x="5580400" y="1401975"/>
            <a:ext cx="0" cy="39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6760900" y="1401975"/>
            <a:ext cx="0" cy="39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3"/>
          <p:cNvSpPr txBox="1"/>
          <p:nvPr/>
        </p:nvSpPr>
        <p:spPr>
          <a:xfrm>
            <a:off x="4874100" y="1925725"/>
            <a:ext cx="28878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ALIGNMENT 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ALIGNMENT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9" name="Google Shape;169;p23"/>
          <p:cNvCxnSpPr/>
          <p:nvPr/>
        </p:nvCxnSpPr>
        <p:spPr>
          <a:xfrm>
            <a:off x="6760900" y="2327750"/>
            <a:ext cx="0" cy="39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3"/>
          <p:cNvSpPr txBox="1"/>
          <p:nvPr/>
        </p:nvSpPr>
        <p:spPr>
          <a:xfrm>
            <a:off x="4442200" y="2855950"/>
            <a:ext cx="46374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ALIGNMENT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.out.bam  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ALIGNMENT.out.bam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1" name="Google Shape;171;p23"/>
          <p:cNvCxnSpPr/>
          <p:nvPr/>
        </p:nvCxnSpPr>
        <p:spPr>
          <a:xfrm>
            <a:off x="5580400" y="2318863"/>
            <a:ext cx="0" cy="39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Nextflow key features - workflows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workflow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fastq_channel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Channel.fromPath("input/*.fastq") // Initial channel with FASTQ files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ALIGNMENT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(fastq_channel)                          // First process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VISUALIZATION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ALIGNMENT.out.sorted_bam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// Second process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VARIANT_CALLING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ALIGNMENT.out.sorted_bam</a:t>
            </a: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        // Third process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nf-core templates</a:t>
            </a:r>
            <a:endParaRPr/>
          </a:p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311700" y="1152475"/>
            <a:ext cx="314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Standardized templates:</a:t>
            </a:r>
            <a:r>
              <a:rPr lang="en-GB" sz="1400">
                <a:solidFill>
                  <a:schemeClr val="dk1"/>
                </a:solidFill>
              </a:rPr>
              <a:t> for creating new modules and pipelines.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Code guidelines: </a:t>
            </a:r>
            <a:r>
              <a:rPr lang="en-GB" sz="1400">
                <a:solidFill>
                  <a:schemeClr val="dk1"/>
                </a:solidFill>
              </a:rPr>
              <a:t>testing setup and input validation.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Helpful features:</a:t>
            </a:r>
            <a:r>
              <a:rPr lang="en-GB" sz="1400">
                <a:solidFill>
                  <a:schemeClr val="dk1"/>
                </a:solidFill>
              </a:rPr>
              <a:t> reference genome loading, MultiQC for reporting.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700" y="714225"/>
            <a:ext cx="506730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875" y="1728175"/>
            <a:ext cx="2095050" cy="209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links</a:t>
            </a:r>
            <a:endParaRPr/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7475" y="1773500"/>
            <a:ext cx="2095050" cy="209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8678" y="1200788"/>
            <a:ext cx="283969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1099" y="1109350"/>
            <a:ext cx="2911850" cy="7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