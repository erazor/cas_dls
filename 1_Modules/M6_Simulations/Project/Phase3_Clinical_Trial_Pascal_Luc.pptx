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2" r:id="rId6"/>
    <p:sldId id="304" r:id="rId7"/>
    <p:sldId id="297" r:id="rId8"/>
    <p:sldId id="305" r:id="rId9"/>
    <p:sldId id="266" r:id="rId10"/>
    <p:sldId id="306" r:id="rId11"/>
    <p:sldId id="293" r:id="rId12"/>
    <p:sldId id="303" r:id="rId13"/>
    <p:sldId id="298" r:id="rId14"/>
    <p:sldId id="295" r:id="rId15"/>
    <p:sldId id="294" r:id="rId16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ED8428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5726" autoAdjust="0"/>
  </p:normalViewPr>
  <p:slideViewPr>
    <p:cSldViewPr snapToGrid="0" showGuides="1">
      <p:cViewPr varScale="1">
        <p:scale>
          <a:sx n="96" d="100"/>
          <a:sy n="96" d="100"/>
        </p:scale>
        <p:origin x="178" y="6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9FA58F-B612-41C5-A834-C7953C0771E1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BD286FE3-56C3-404A-82CB-3B370C926E87}">
      <dgm:prSet phldrT="[Text]"/>
      <dgm:spPr>
        <a:solidFill>
          <a:srgbClr val="969FA7"/>
        </a:solidFill>
      </dgm:spPr>
      <dgm:t>
        <a:bodyPr/>
        <a:lstStyle/>
        <a:p>
          <a:r>
            <a:rPr lang="en-US" dirty="0"/>
            <a:t>Preclinical Research</a:t>
          </a:r>
        </a:p>
      </dgm:t>
    </dgm:pt>
    <dgm:pt modelId="{D67C5E1D-57A6-468C-AEC8-6CAC1BB09200}" type="parTrans" cxnId="{E323BE5D-517F-47F0-A00B-A5DEDFF678F5}">
      <dgm:prSet/>
      <dgm:spPr/>
      <dgm:t>
        <a:bodyPr/>
        <a:lstStyle/>
        <a:p>
          <a:endParaRPr lang="en-US"/>
        </a:p>
      </dgm:t>
    </dgm:pt>
    <dgm:pt modelId="{C77D4D34-1BA0-48B9-BA47-BED7625EA89D}" type="sibTrans" cxnId="{E323BE5D-517F-47F0-A00B-A5DEDFF678F5}">
      <dgm:prSet/>
      <dgm:spPr/>
      <dgm:t>
        <a:bodyPr/>
        <a:lstStyle/>
        <a:p>
          <a:endParaRPr lang="en-US"/>
        </a:p>
      </dgm:t>
    </dgm:pt>
    <dgm:pt modelId="{152D83D3-C517-4E4D-8A56-764FB3DAD9F0}">
      <dgm:prSet phldrT="[Text]"/>
      <dgm:spPr>
        <a:solidFill>
          <a:srgbClr val="969FA7"/>
        </a:solidFill>
      </dgm:spPr>
      <dgm:t>
        <a:bodyPr/>
        <a:lstStyle/>
        <a:p>
          <a:r>
            <a:rPr lang="en-US" dirty="0"/>
            <a:t>Phase 0/I</a:t>
          </a:r>
        </a:p>
      </dgm:t>
    </dgm:pt>
    <dgm:pt modelId="{B034DBE9-DCA8-4DA3-8BF0-805BB0ECDEDF}" type="parTrans" cxnId="{0CD3F7F3-956D-42BD-BCB7-19B94C177A06}">
      <dgm:prSet/>
      <dgm:spPr/>
      <dgm:t>
        <a:bodyPr/>
        <a:lstStyle/>
        <a:p>
          <a:endParaRPr lang="en-US"/>
        </a:p>
      </dgm:t>
    </dgm:pt>
    <dgm:pt modelId="{1EBEA446-1ABD-46D8-9997-BC24446F6D75}" type="sibTrans" cxnId="{0CD3F7F3-956D-42BD-BCB7-19B94C177A06}">
      <dgm:prSet/>
      <dgm:spPr/>
      <dgm:t>
        <a:bodyPr/>
        <a:lstStyle/>
        <a:p>
          <a:endParaRPr lang="en-US"/>
        </a:p>
      </dgm:t>
    </dgm:pt>
    <dgm:pt modelId="{DD9CABEB-301E-441E-80D1-FE128A478BD5}">
      <dgm:prSet phldrT="[Text]"/>
      <dgm:spPr>
        <a:solidFill>
          <a:srgbClr val="969FA7"/>
        </a:solidFill>
      </dgm:spPr>
      <dgm:t>
        <a:bodyPr/>
        <a:lstStyle/>
        <a:p>
          <a:r>
            <a:rPr lang="en-US" dirty="0"/>
            <a:t>Phase II</a:t>
          </a:r>
        </a:p>
      </dgm:t>
    </dgm:pt>
    <dgm:pt modelId="{7A09B7B4-3B6A-4CBD-818D-9024B53D2F61}" type="parTrans" cxnId="{5381FF15-640C-4F6D-8BA0-033BD6730FEC}">
      <dgm:prSet/>
      <dgm:spPr/>
      <dgm:t>
        <a:bodyPr/>
        <a:lstStyle/>
        <a:p>
          <a:endParaRPr lang="en-US"/>
        </a:p>
      </dgm:t>
    </dgm:pt>
    <dgm:pt modelId="{184A37DE-871A-4D7E-B451-95B9839E0C58}" type="sibTrans" cxnId="{5381FF15-640C-4F6D-8BA0-033BD6730FEC}">
      <dgm:prSet/>
      <dgm:spPr/>
      <dgm:t>
        <a:bodyPr/>
        <a:lstStyle/>
        <a:p>
          <a:endParaRPr lang="en-US"/>
        </a:p>
      </dgm:t>
    </dgm:pt>
    <dgm:pt modelId="{0BB17D5C-0808-41A5-ABCE-B6F6EB39EE7A}">
      <dgm:prSet phldrT="[Text]"/>
      <dgm:spPr>
        <a:solidFill>
          <a:srgbClr val="ED8428"/>
        </a:solidFill>
      </dgm:spPr>
      <dgm:t>
        <a:bodyPr/>
        <a:lstStyle/>
        <a:p>
          <a:r>
            <a:rPr lang="en-US" dirty="0"/>
            <a:t>Phase III</a:t>
          </a:r>
        </a:p>
      </dgm:t>
    </dgm:pt>
    <dgm:pt modelId="{15BA9EB5-459D-44BD-AA80-19383B6477A3}" type="parTrans" cxnId="{A2A6348C-909F-4BBA-900C-3D8D4DA62920}">
      <dgm:prSet/>
      <dgm:spPr/>
      <dgm:t>
        <a:bodyPr/>
        <a:lstStyle/>
        <a:p>
          <a:endParaRPr lang="en-US"/>
        </a:p>
      </dgm:t>
    </dgm:pt>
    <dgm:pt modelId="{F1C94851-52D4-4075-8EDF-C73856BD2FE6}" type="sibTrans" cxnId="{A2A6348C-909F-4BBA-900C-3D8D4DA62920}">
      <dgm:prSet/>
      <dgm:spPr/>
      <dgm:t>
        <a:bodyPr/>
        <a:lstStyle/>
        <a:p>
          <a:endParaRPr lang="en-US"/>
        </a:p>
      </dgm:t>
    </dgm:pt>
    <dgm:pt modelId="{461525F9-FB79-45B8-9B47-8C3BC435EC9D}">
      <dgm:prSet phldrT="[Text]"/>
      <dgm:spPr>
        <a:solidFill>
          <a:srgbClr val="969FA7"/>
        </a:solidFill>
      </dgm:spPr>
      <dgm:t>
        <a:bodyPr/>
        <a:lstStyle/>
        <a:p>
          <a:r>
            <a:rPr lang="en-US" dirty="0"/>
            <a:t>Post-clinical Monitoring</a:t>
          </a:r>
        </a:p>
      </dgm:t>
    </dgm:pt>
    <dgm:pt modelId="{DE9017BA-6949-4F11-B5C5-0840DD6991E8}" type="parTrans" cxnId="{797D2C9A-109E-4AEF-9EC9-A99EB7A73ACA}">
      <dgm:prSet/>
      <dgm:spPr/>
      <dgm:t>
        <a:bodyPr/>
        <a:lstStyle/>
        <a:p>
          <a:endParaRPr lang="en-US"/>
        </a:p>
      </dgm:t>
    </dgm:pt>
    <dgm:pt modelId="{A0ECC747-7144-4551-A2FC-70FEE80E4F98}" type="sibTrans" cxnId="{797D2C9A-109E-4AEF-9EC9-A99EB7A73ACA}">
      <dgm:prSet/>
      <dgm:spPr/>
      <dgm:t>
        <a:bodyPr/>
        <a:lstStyle/>
        <a:p>
          <a:endParaRPr lang="en-US"/>
        </a:p>
      </dgm:t>
    </dgm:pt>
    <dgm:pt modelId="{C0100DFB-F345-410E-9618-F9E4C46904D1}" type="pres">
      <dgm:prSet presAssocID="{329FA58F-B612-41C5-A834-C7953C0771E1}" presName="Name0" presStyleCnt="0">
        <dgm:presLayoutVars>
          <dgm:dir/>
          <dgm:resizeHandles val="exact"/>
        </dgm:presLayoutVars>
      </dgm:prSet>
      <dgm:spPr/>
    </dgm:pt>
    <dgm:pt modelId="{7845C59F-75A3-4622-8717-28A02F932ACD}" type="pres">
      <dgm:prSet presAssocID="{BD286FE3-56C3-404A-82CB-3B370C926E87}" presName="parTxOnly" presStyleLbl="node1" presStyleIdx="0" presStyleCnt="5">
        <dgm:presLayoutVars>
          <dgm:bulletEnabled val="1"/>
        </dgm:presLayoutVars>
      </dgm:prSet>
      <dgm:spPr/>
    </dgm:pt>
    <dgm:pt modelId="{B3B2AF9B-FC42-4B68-869B-7D9BA7DE2CF8}" type="pres">
      <dgm:prSet presAssocID="{C77D4D34-1BA0-48B9-BA47-BED7625EA89D}" presName="parSpace" presStyleCnt="0"/>
      <dgm:spPr/>
    </dgm:pt>
    <dgm:pt modelId="{2C5B9F9C-F794-4605-87A9-B169615B6906}" type="pres">
      <dgm:prSet presAssocID="{152D83D3-C517-4E4D-8A56-764FB3DAD9F0}" presName="parTxOnly" presStyleLbl="node1" presStyleIdx="1" presStyleCnt="5">
        <dgm:presLayoutVars>
          <dgm:bulletEnabled val="1"/>
        </dgm:presLayoutVars>
      </dgm:prSet>
      <dgm:spPr/>
    </dgm:pt>
    <dgm:pt modelId="{B62D41B6-D8A0-49FF-BBDB-C573B89961C1}" type="pres">
      <dgm:prSet presAssocID="{1EBEA446-1ABD-46D8-9997-BC24446F6D75}" presName="parSpace" presStyleCnt="0"/>
      <dgm:spPr/>
    </dgm:pt>
    <dgm:pt modelId="{34F001DF-948B-4B95-ADF3-D8EC459B763E}" type="pres">
      <dgm:prSet presAssocID="{DD9CABEB-301E-441E-80D1-FE128A478BD5}" presName="parTxOnly" presStyleLbl="node1" presStyleIdx="2" presStyleCnt="5">
        <dgm:presLayoutVars>
          <dgm:bulletEnabled val="1"/>
        </dgm:presLayoutVars>
      </dgm:prSet>
      <dgm:spPr/>
    </dgm:pt>
    <dgm:pt modelId="{837F40BE-A1D3-46E4-B16A-8F2AF5AD66B7}" type="pres">
      <dgm:prSet presAssocID="{184A37DE-871A-4D7E-B451-95B9839E0C58}" presName="parSpace" presStyleCnt="0"/>
      <dgm:spPr/>
    </dgm:pt>
    <dgm:pt modelId="{F76C1B18-ACCA-4786-B97F-926D7A8F6761}" type="pres">
      <dgm:prSet presAssocID="{0BB17D5C-0808-41A5-ABCE-B6F6EB39EE7A}" presName="parTxOnly" presStyleLbl="node1" presStyleIdx="3" presStyleCnt="5">
        <dgm:presLayoutVars>
          <dgm:bulletEnabled val="1"/>
        </dgm:presLayoutVars>
      </dgm:prSet>
      <dgm:spPr/>
    </dgm:pt>
    <dgm:pt modelId="{97E18AA4-C596-41F4-AA29-D06D71CBE93F}" type="pres">
      <dgm:prSet presAssocID="{F1C94851-52D4-4075-8EDF-C73856BD2FE6}" presName="parSpace" presStyleCnt="0"/>
      <dgm:spPr/>
    </dgm:pt>
    <dgm:pt modelId="{C5F59F42-194D-48D7-AF5B-B922D0C258E7}" type="pres">
      <dgm:prSet presAssocID="{461525F9-FB79-45B8-9B47-8C3BC435EC9D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381FF15-640C-4F6D-8BA0-033BD6730FEC}" srcId="{329FA58F-B612-41C5-A834-C7953C0771E1}" destId="{DD9CABEB-301E-441E-80D1-FE128A478BD5}" srcOrd="2" destOrd="0" parTransId="{7A09B7B4-3B6A-4CBD-818D-9024B53D2F61}" sibTransId="{184A37DE-871A-4D7E-B451-95B9839E0C58}"/>
    <dgm:cxn modelId="{D6D2E91E-A1FF-4309-A5A2-B9A217EBFCFA}" type="presOf" srcId="{329FA58F-B612-41C5-A834-C7953C0771E1}" destId="{C0100DFB-F345-410E-9618-F9E4C46904D1}" srcOrd="0" destOrd="0" presId="urn:microsoft.com/office/officeart/2005/8/layout/hChevron3"/>
    <dgm:cxn modelId="{A4F40134-BB75-457B-A326-D2687C06B9E6}" type="presOf" srcId="{152D83D3-C517-4E4D-8A56-764FB3DAD9F0}" destId="{2C5B9F9C-F794-4605-87A9-B169615B6906}" srcOrd="0" destOrd="0" presId="urn:microsoft.com/office/officeart/2005/8/layout/hChevron3"/>
    <dgm:cxn modelId="{E323BE5D-517F-47F0-A00B-A5DEDFF678F5}" srcId="{329FA58F-B612-41C5-A834-C7953C0771E1}" destId="{BD286FE3-56C3-404A-82CB-3B370C926E87}" srcOrd="0" destOrd="0" parTransId="{D67C5E1D-57A6-468C-AEC8-6CAC1BB09200}" sibTransId="{C77D4D34-1BA0-48B9-BA47-BED7625EA89D}"/>
    <dgm:cxn modelId="{44773055-73BF-4DE4-8591-252BCC8C64BE}" type="presOf" srcId="{0BB17D5C-0808-41A5-ABCE-B6F6EB39EE7A}" destId="{F76C1B18-ACCA-4786-B97F-926D7A8F6761}" srcOrd="0" destOrd="0" presId="urn:microsoft.com/office/officeart/2005/8/layout/hChevron3"/>
    <dgm:cxn modelId="{A6ABFA77-504D-4696-9EB2-AE46B84C99CC}" type="presOf" srcId="{DD9CABEB-301E-441E-80D1-FE128A478BD5}" destId="{34F001DF-948B-4B95-ADF3-D8EC459B763E}" srcOrd="0" destOrd="0" presId="urn:microsoft.com/office/officeart/2005/8/layout/hChevron3"/>
    <dgm:cxn modelId="{A2A6348C-909F-4BBA-900C-3D8D4DA62920}" srcId="{329FA58F-B612-41C5-A834-C7953C0771E1}" destId="{0BB17D5C-0808-41A5-ABCE-B6F6EB39EE7A}" srcOrd="3" destOrd="0" parTransId="{15BA9EB5-459D-44BD-AA80-19383B6477A3}" sibTransId="{F1C94851-52D4-4075-8EDF-C73856BD2FE6}"/>
    <dgm:cxn modelId="{797D2C9A-109E-4AEF-9EC9-A99EB7A73ACA}" srcId="{329FA58F-B612-41C5-A834-C7953C0771E1}" destId="{461525F9-FB79-45B8-9B47-8C3BC435EC9D}" srcOrd="4" destOrd="0" parTransId="{DE9017BA-6949-4F11-B5C5-0840DD6991E8}" sibTransId="{A0ECC747-7144-4551-A2FC-70FEE80E4F98}"/>
    <dgm:cxn modelId="{7EBBE9E4-C1D9-409E-8859-D99B080FD6B8}" type="presOf" srcId="{BD286FE3-56C3-404A-82CB-3B370C926E87}" destId="{7845C59F-75A3-4622-8717-28A02F932ACD}" srcOrd="0" destOrd="0" presId="urn:microsoft.com/office/officeart/2005/8/layout/hChevron3"/>
    <dgm:cxn modelId="{0CD3F7F3-956D-42BD-BCB7-19B94C177A06}" srcId="{329FA58F-B612-41C5-A834-C7953C0771E1}" destId="{152D83D3-C517-4E4D-8A56-764FB3DAD9F0}" srcOrd="1" destOrd="0" parTransId="{B034DBE9-DCA8-4DA3-8BF0-805BB0ECDEDF}" sibTransId="{1EBEA446-1ABD-46D8-9997-BC24446F6D75}"/>
    <dgm:cxn modelId="{AA7136F5-14E6-4B4E-9EED-73EF6270103D}" type="presOf" srcId="{461525F9-FB79-45B8-9B47-8C3BC435EC9D}" destId="{C5F59F42-194D-48D7-AF5B-B922D0C258E7}" srcOrd="0" destOrd="0" presId="urn:microsoft.com/office/officeart/2005/8/layout/hChevron3"/>
    <dgm:cxn modelId="{6259C055-195D-49A6-8E5A-007E9712DB94}" type="presParOf" srcId="{C0100DFB-F345-410E-9618-F9E4C46904D1}" destId="{7845C59F-75A3-4622-8717-28A02F932ACD}" srcOrd="0" destOrd="0" presId="urn:microsoft.com/office/officeart/2005/8/layout/hChevron3"/>
    <dgm:cxn modelId="{815AEEEC-6CFE-4EB9-98BB-836C208729C2}" type="presParOf" srcId="{C0100DFB-F345-410E-9618-F9E4C46904D1}" destId="{B3B2AF9B-FC42-4B68-869B-7D9BA7DE2CF8}" srcOrd="1" destOrd="0" presId="urn:microsoft.com/office/officeart/2005/8/layout/hChevron3"/>
    <dgm:cxn modelId="{AEA197D7-815A-47E8-BF62-FFCA3487CA7A}" type="presParOf" srcId="{C0100DFB-F345-410E-9618-F9E4C46904D1}" destId="{2C5B9F9C-F794-4605-87A9-B169615B6906}" srcOrd="2" destOrd="0" presId="urn:microsoft.com/office/officeart/2005/8/layout/hChevron3"/>
    <dgm:cxn modelId="{74398D1C-084A-499D-BFE4-74BE4E04A86C}" type="presParOf" srcId="{C0100DFB-F345-410E-9618-F9E4C46904D1}" destId="{B62D41B6-D8A0-49FF-BBDB-C573B89961C1}" srcOrd="3" destOrd="0" presId="urn:microsoft.com/office/officeart/2005/8/layout/hChevron3"/>
    <dgm:cxn modelId="{A734D14E-1DCC-42ED-B2AA-2767FE65681B}" type="presParOf" srcId="{C0100DFB-F345-410E-9618-F9E4C46904D1}" destId="{34F001DF-948B-4B95-ADF3-D8EC459B763E}" srcOrd="4" destOrd="0" presId="urn:microsoft.com/office/officeart/2005/8/layout/hChevron3"/>
    <dgm:cxn modelId="{3FDE4C5A-39B1-4119-B981-2E40732CCDC1}" type="presParOf" srcId="{C0100DFB-F345-410E-9618-F9E4C46904D1}" destId="{837F40BE-A1D3-46E4-B16A-8F2AF5AD66B7}" srcOrd="5" destOrd="0" presId="urn:microsoft.com/office/officeart/2005/8/layout/hChevron3"/>
    <dgm:cxn modelId="{F0F32A61-A437-46E2-A1A4-418B251A02D3}" type="presParOf" srcId="{C0100DFB-F345-410E-9618-F9E4C46904D1}" destId="{F76C1B18-ACCA-4786-B97F-926D7A8F6761}" srcOrd="6" destOrd="0" presId="urn:microsoft.com/office/officeart/2005/8/layout/hChevron3"/>
    <dgm:cxn modelId="{3FB3F06D-90E7-4234-9578-26EED1BA025A}" type="presParOf" srcId="{C0100DFB-F345-410E-9618-F9E4C46904D1}" destId="{97E18AA4-C596-41F4-AA29-D06D71CBE93F}" srcOrd="7" destOrd="0" presId="urn:microsoft.com/office/officeart/2005/8/layout/hChevron3"/>
    <dgm:cxn modelId="{32E9E880-5292-4642-9F43-88E7DB066DAA}" type="presParOf" srcId="{C0100DFB-F345-410E-9618-F9E4C46904D1}" destId="{C5F59F42-194D-48D7-AF5B-B922D0C258E7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5C59F-75A3-4622-8717-28A02F932ACD}">
      <dsp:nvSpPr>
        <dsp:cNvPr id="0" name=""/>
        <dsp:cNvSpPr/>
      </dsp:nvSpPr>
      <dsp:spPr>
        <a:xfrm>
          <a:off x="1376" y="1515"/>
          <a:ext cx="2684487" cy="1073794"/>
        </a:xfrm>
        <a:prstGeom prst="homePlate">
          <a:avLst/>
        </a:prstGeom>
        <a:solidFill>
          <a:srgbClr val="969FA7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Preclinical Research</a:t>
          </a:r>
        </a:p>
      </dsp:txBody>
      <dsp:txXfrm>
        <a:off x="1376" y="1515"/>
        <a:ext cx="2416039" cy="1073794"/>
      </dsp:txXfrm>
    </dsp:sp>
    <dsp:sp modelId="{2C5B9F9C-F794-4605-87A9-B169615B6906}">
      <dsp:nvSpPr>
        <dsp:cNvPr id="0" name=""/>
        <dsp:cNvSpPr/>
      </dsp:nvSpPr>
      <dsp:spPr>
        <a:xfrm>
          <a:off x="2148966" y="1515"/>
          <a:ext cx="2684487" cy="1073794"/>
        </a:xfrm>
        <a:prstGeom prst="chevron">
          <a:avLst/>
        </a:prstGeom>
        <a:solidFill>
          <a:srgbClr val="969FA7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Phase 0/I</a:t>
          </a:r>
        </a:p>
      </dsp:txBody>
      <dsp:txXfrm>
        <a:off x="2685863" y="1515"/>
        <a:ext cx="1610693" cy="1073794"/>
      </dsp:txXfrm>
    </dsp:sp>
    <dsp:sp modelId="{34F001DF-948B-4B95-ADF3-D8EC459B763E}">
      <dsp:nvSpPr>
        <dsp:cNvPr id="0" name=""/>
        <dsp:cNvSpPr/>
      </dsp:nvSpPr>
      <dsp:spPr>
        <a:xfrm>
          <a:off x="4296556" y="1515"/>
          <a:ext cx="2684487" cy="1073794"/>
        </a:xfrm>
        <a:prstGeom prst="chevron">
          <a:avLst/>
        </a:prstGeom>
        <a:solidFill>
          <a:srgbClr val="969FA7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Phase II</a:t>
          </a:r>
        </a:p>
      </dsp:txBody>
      <dsp:txXfrm>
        <a:off x="4833453" y="1515"/>
        <a:ext cx="1610693" cy="1073794"/>
      </dsp:txXfrm>
    </dsp:sp>
    <dsp:sp modelId="{F76C1B18-ACCA-4786-B97F-926D7A8F6761}">
      <dsp:nvSpPr>
        <dsp:cNvPr id="0" name=""/>
        <dsp:cNvSpPr/>
      </dsp:nvSpPr>
      <dsp:spPr>
        <a:xfrm>
          <a:off x="6444146" y="1515"/>
          <a:ext cx="2684487" cy="1073794"/>
        </a:xfrm>
        <a:prstGeom prst="chevron">
          <a:avLst/>
        </a:prstGeom>
        <a:solidFill>
          <a:srgbClr val="ED8428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Phase III</a:t>
          </a:r>
        </a:p>
      </dsp:txBody>
      <dsp:txXfrm>
        <a:off x="6981043" y="1515"/>
        <a:ext cx="1610693" cy="1073794"/>
      </dsp:txXfrm>
    </dsp:sp>
    <dsp:sp modelId="{C5F59F42-194D-48D7-AF5B-B922D0C258E7}">
      <dsp:nvSpPr>
        <dsp:cNvPr id="0" name=""/>
        <dsp:cNvSpPr/>
      </dsp:nvSpPr>
      <dsp:spPr>
        <a:xfrm>
          <a:off x="8591736" y="1515"/>
          <a:ext cx="2684487" cy="1073794"/>
        </a:xfrm>
        <a:prstGeom prst="chevron">
          <a:avLst/>
        </a:prstGeom>
        <a:solidFill>
          <a:srgbClr val="969FA7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Post-clinical Monitoring</a:t>
          </a:r>
        </a:p>
      </dsp:txBody>
      <dsp:txXfrm>
        <a:off x="9128633" y="1515"/>
        <a:ext cx="1610693" cy="1073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E406FF2F-A2ED-48DC-8CF1-4A495A488E57}" type="datetime1">
              <a:rPr lang="de-DE" smtClean="0"/>
              <a:t>18.04.2026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24AB78DD-9481-4863-BCCC-946573546DA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3AA6C5A9-E53D-48AA-B021-621A0EAA65D8}" type="datetime1">
              <a:rPr lang="de-DE" smtClean="0"/>
              <a:pPr/>
              <a:t>18.04.2026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B63359F2-43EF-4812-9DC0-98C0B1A4068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B63359F2-43EF-4812-9DC0-98C0B1A40681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B63359F2-43EF-4812-9DC0-98C0B1A40681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63359F2-43EF-4812-9DC0-98C0B1A40681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5300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63359F2-43EF-4812-9DC0-98C0B1A40681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8547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63359F2-43EF-4812-9DC0-98C0B1A40681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1562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B63359F2-43EF-4812-9DC0-98C0B1A40681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63359F2-43EF-4812-9DC0-98C0B1A40681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2804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B63359F2-43EF-4812-9DC0-98C0B1A40681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63359F2-43EF-4812-9DC0-98C0B1A40681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6475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63359F2-43EF-4812-9DC0-98C0B1A40681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7540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B63359F2-43EF-4812-9DC0-98C0B1A40681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B63359F2-43EF-4812-9DC0-98C0B1A40681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3464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 rtlCol="0">
            <a:noAutofit/>
          </a:bodyPr>
          <a:lstStyle>
            <a:lvl1pPr>
              <a:defRPr lang="de-DE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rtlCol="0" anchor="t" anchorCtr="0">
            <a:normAutofit/>
          </a:bodyPr>
          <a:lstStyle>
            <a:lvl1pPr marL="0" indent="0" algn="ctr">
              <a:buNone/>
              <a:defRPr lang="de-DE"/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342528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 rtlCol="0">
            <a:noAutofit/>
          </a:bodyPr>
          <a:lstStyle>
            <a:lvl1pPr>
              <a:defRPr lang="de-DE"/>
            </a:lvl1pPr>
          </a:lstStyle>
          <a:p>
            <a:pPr rtl="0"/>
            <a:endParaRPr lang="de-DE" dirty="0"/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 lang="de-DE"/>
            </a:lvl1pPr>
          </a:lstStyle>
          <a:p>
            <a:pPr lvl="0" rtl="0"/>
            <a:r>
              <a:rPr lang="de-DE"/>
              <a:t>Klicken Sie, um Text hinzuzufügen. 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 anchorCtr="0">
            <a:noAutofit/>
          </a:bodyPr>
          <a:lstStyle>
            <a:lvl1pPr marL="0" indent="0" algn="ctr">
              <a:buNone/>
              <a:defRPr lang="de-DE"/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3A98EE3D-8CD1-4C3F-BD1C-C98C9596463C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897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 rtlCol="0">
            <a:noAutofit/>
          </a:bodyPr>
          <a:lstStyle>
            <a:lvl1pPr algn="ctr">
              <a:defRPr lang="de-DE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>
            <a:lvl1pPr marL="0" indent="0" algn="ctr">
              <a:buNone/>
              <a:defRPr lang="de-DE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lang="de-DE"/>
            </a:pPr>
            <a:r>
              <a:rPr lang="de-DE"/>
              <a:t>Bild durch Klicken hinzufügen</a:t>
            </a:r>
          </a:p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850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 +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rtlCol="0" anchor="b">
            <a:noAutofit/>
          </a:bodyPr>
          <a:lstStyle>
            <a:lvl1pPr algn="l">
              <a:defRPr lang="de-DE" sz="2800"/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rtlCol="0" anchor="t">
            <a:noAutofit/>
          </a:bodyPr>
          <a:lstStyle>
            <a:lvl1pPr marL="0" indent="0" algn="l">
              <a:buNone/>
              <a:defRPr lang="de-DE" sz="1800"/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603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rtlCol="0" anchor="ctr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 anchorCtr="0">
            <a:noAutofit/>
          </a:bodyPr>
          <a:lstStyle>
            <a:lvl1pPr marL="0" indent="0" algn="ctr">
              <a:buNone/>
              <a:defRPr lang="de-DE"/>
            </a:lvl1pPr>
          </a:lstStyle>
          <a:p>
            <a:pPr rtl="0"/>
            <a:r>
              <a:rPr lang="de-DE"/>
              <a:t>Bild durch Klicken hinzufügen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rtlCol="0"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lang="de-DE"/>
            </a:lvl1pPr>
            <a:lvl2pPr marL="283464" indent="-283464">
              <a:buFont typeface="Arial" panose="020B0604020202020204" pitchFamily="34" charset="0"/>
              <a:buChar char="•"/>
              <a:defRPr lang="de-DE"/>
            </a:lvl2pPr>
            <a:lvl3pPr marL="283464" indent="-283464">
              <a:buFont typeface="Arial" panose="020B0604020202020204" pitchFamily="34" charset="0"/>
              <a:buChar char="•"/>
              <a:defRPr lang="de-DE"/>
            </a:lvl3pPr>
            <a:lvl4pPr marL="283464" indent="-283464">
              <a:buFont typeface="Arial" panose="020B0604020202020204" pitchFamily="34" charset="0"/>
              <a:buChar char="•"/>
              <a:defRPr lang="de-DE"/>
            </a:lvl4pPr>
            <a:lvl5pPr marL="283464" indent="-283464">
              <a:buFont typeface="Arial" panose="020B0604020202020204" pitchFamily="34" charset="0"/>
              <a:buChar char="•"/>
              <a:defRPr lang="de-DE"/>
            </a:lvl5pPr>
          </a:lstStyle>
          <a:p>
            <a:pPr lvl="0" rtl="0"/>
            <a:r>
              <a:rPr lang="de-DE"/>
              <a:t>Klicken Sie, um Text hinzuzufügen. 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3A98EE3D-8CD1-4C3F-BD1C-C98C9596463C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8314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 rtlCol="0"/>
          <a:lstStyle>
            <a:lvl1pPr>
              <a:defRPr lang="de-DE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rtlCol="0" anchor="t">
            <a:normAutofit/>
          </a:bodyPr>
          <a:lstStyle>
            <a:lvl1pPr marL="342900" indent="-342900">
              <a:buFont typeface="+mj-lt"/>
              <a:buAutoNum type="arabicPeriod"/>
              <a:defRPr lang="de-DE" sz="1800"/>
            </a:lvl1pPr>
            <a:lvl2pPr marL="914400" indent="-342900">
              <a:buFont typeface="+mj-lt"/>
              <a:buAutoNum type="alphaLcPeriod"/>
              <a:defRPr lang="de-DE" sz="1800"/>
            </a:lvl2pPr>
            <a:lvl3pPr marL="1371600" indent="-342900">
              <a:buFont typeface="+mj-lt"/>
              <a:buAutoNum type="arabicPeriod"/>
              <a:defRPr lang="de-DE" sz="1800"/>
            </a:lvl3pPr>
            <a:lvl4pPr marL="1600200" indent="-342900">
              <a:buFont typeface="+mj-lt"/>
              <a:buAutoNum type="alphaLcParenR"/>
              <a:defRPr lang="de-DE" sz="1800"/>
            </a:lvl4pPr>
            <a:lvl5pPr marL="2057400" indent="-400050">
              <a:buFont typeface="+mj-lt"/>
              <a:buAutoNum type="romanLcPeriod"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rtlCol="0" anchor="t">
            <a:normAutofit/>
          </a:bodyPr>
          <a:lstStyle>
            <a:lvl1pPr marL="0" indent="0">
              <a:buNone/>
              <a:defRPr lang="de-DE" sz="1800"/>
            </a:lvl1pPr>
            <a:lvl2pPr marL="0">
              <a:defRPr lang="de-DE" sz="1800"/>
            </a:lvl2pPr>
            <a:lvl3pPr marL="548640">
              <a:defRPr lang="de-DE" sz="1800"/>
            </a:lvl3pPr>
            <a:lvl4pPr marL="822960">
              <a:defRPr lang="de-DE" sz="1800"/>
            </a:lvl4pPr>
            <a:lvl5pPr marL="1097280"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3A98EE3D-8CD1-4C3F-BD1C-C98C9596463C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7918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 rtlCol="0"/>
          <a:lstStyle>
            <a:lvl1pPr>
              <a:defRPr lang="de-DE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2318490"/>
            <a:ext cx="7371083" cy="3633047"/>
          </a:xfrm>
        </p:spPr>
        <p:txBody>
          <a:bodyPr rtlCol="0" anchor="t">
            <a:normAutofit/>
          </a:bodyPr>
          <a:lstStyle>
            <a:lvl1pPr marL="0" indent="0">
              <a:buNone/>
              <a:defRPr lang="de-DE" sz="1800"/>
            </a:lvl1pPr>
            <a:lvl2pPr marL="0">
              <a:defRPr lang="de-DE" sz="1800"/>
            </a:lvl2pPr>
            <a:lvl3pPr marL="548640">
              <a:defRPr lang="de-DE" sz="1800"/>
            </a:lvl3pPr>
            <a:lvl4pPr marL="822960">
              <a:defRPr lang="de-DE" sz="1800"/>
            </a:lvl4pPr>
            <a:lvl5pPr marL="1097280"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E6EDC6B-B9AA-A4D9-A782-C38A0F84F63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993378" y="2318490"/>
            <a:ext cx="3731262" cy="3633047"/>
          </a:xfrm>
        </p:spPr>
        <p:txBody>
          <a:bodyPr rtlCol="0" anchor="t">
            <a:normAutofit/>
          </a:bodyPr>
          <a:lstStyle>
            <a:lvl1pPr marL="0" indent="-342900">
              <a:buFont typeface="+mj-lt"/>
              <a:buAutoNum type="arabicPeriod"/>
              <a:defRPr lang="de-DE" sz="1800"/>
            </a:lvl1pPr>
            <a:lvl2pPr marL="914400" indent="-342900">
              <a:buFont typeface="+mj-lt"/>
              <a:buAutoNum type="alphaLcPeriod"/>
              <a:defRPr lang="de-DE" sz="1800"/>
            </a:lvl2pPr>
            <a:lvl3pPr marL="1371600" indent="-342900">
              <a:buFont typeface="+mj-lt"/>
              <a:buAutoNum type="arabicPeriod"/>
              <a:defRPr lang="de-DE" sz="1800"/>
            </a:lvl3pPr>
            <a:lvl4pPr marL="1600200" indent="-342900">
              <a:buFont typeface="+mj-lt"/>
              <a:buAutoNum type="alphaLcParenR"/>
              <a:defRPr lang="de-DE" sz="1800"/>
            </a:lvl4pPr>
            <a:lvl5pPr marL="2057400" indent="-400050">
              <a:buFont typeface="+mj-lt"/>
              <a:buAutoNum type="romanLcPeriod"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3A98EE3D-8CD1-4C3F-BD1C-C98C9596463C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4945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 rtlCol="0">
            <a:noAutofit/>
          </a:bodyPr>
          <a:lstStyle>
            <a:lvl1pPr algn="l">
              <a:defRPr lang="de-DE"/>
            </a:lvl1pPr>
          </a:lstStyle>
          <a:p>
            <a:pPr rtl="0"/>
            <a:endParaRPr lang="de-DE" noProof="0" dirty="0"/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 lang="de-DE"/>
            </a:lvl1pPr>
          </a:lstStyle>
          <a:p>
            <a:pPr lvl="0" rtl="0"/>
            <a:r>
              <a:rPr lang="de-DE" noProof="0"/>
              <a:t>Klicken Sie, um Text hinzuzufügen. 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>
            <a:lvl1pPr marL="0" indent="0" algn="ctr">
              <a:buNone/>
              <a:defRPr lang="de-DE"/>
            </a:lvl1pPr>
          </a:lstStyle>
          <a:p>
            <a:pPr rtl="0"/>
            <a:r>
              <a:rPr lang="de-DE" noProof="0"/>
              <a:t>Klicken, um Bild hinzuzufügen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noProof="0"/>
              <a:t>20XX</a:t>
            </a: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8225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EDE807-0B0D-AB17-AEC5-973B8468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D96F4F-F3DC-87D8-C13D-6619F4CD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D73CFE-935B-6D65-59E2-60B4C0A2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3A98EE3D-8CD1-4C3F-BD1C-C98C9596463C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789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57200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de-DE" smtClean="0"/>
              <a:t>‹Nr.›</a:t>
            </a:fld>
            <a:endParaRPr lang="de-DE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E284FBA-8100-A68A-E505-8394037280E3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33D76077-2232-20C1-A39F-D53FF37F23AD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23E564DB-C879-75FB-127D-6BEDFDDFE5E9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2596683C-B322-4FC1-A3A3-337211F501AE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17929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80" r:id="rId3"/>
    <p:sldLayoutId id="2147483797" r:id="rId4"/>
    <p:sldLayoutId id="2147483787" r:id="rId5"/>
    <p:sldLayoutId id="2147483766" r:id="rId6"/>
    <p:sldLayoutId id="2147483798" r:id="rId7"/>
    <p:sldLayoutId id="2147483779" r:id="rId8"/>
    <p:sldLayoutId id="2147483769" r:id="rId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lang="de-DE"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 lang="de-DE">
          <a:solidFill>
            <a:schemeClr val="tx2"/>
          </a:solidFill>
        </a:defRPr>
      </a:lvl2pPr>
      <a:lvl3pPr eaLnBrk="1" hangingPunct="1">
        <a:defRPr lang="de-DE">
          <a:solidFill>
            <a:schemeClr val="tx2"/>
          </a:solidFill>
        </a:defRPr>
      </a:lvl3pPr>
      <a:lvl4pPr eaLnBrk="1" hangingPunct="1">
        <a:defRPr lang="de-DE">
          <a:solidFill>
            <a:schemeClr val="tx2"/>
          </a:solidFill>
        </a:defRPr>
      </a:lvl4pPr>
      <a:lvl5pPr eaLnBrk="1" hangingPunct="1">
        <a:defRPr lang="de-DE">
          <a:solidFill>
            <a:schemeClr val="tx2"/>
          </a:solidFill>
        </a:defRPr>
      </a:lvl5pPr>
      <a:lvl6pPr eaLnBrk="1" hangingPunct="1">
        <a:defRPr lang="de-DE">
          <a:solidFill>
            <a:schemeClr val="tx2"/>
          </a:solidFill>
        </a:defRPr>
      </a:lvl6pPr>
      <a:lvl7pPr eaLnBrk="1" hangingPunct="1">
        <a:defRPr lang="de-DE">
          <a:solidFill>
            <a:schemeClr val="tx2"/>
          </a:solidFill>
        </a:defRPr>
      </a:lvl7pPr>
      <a:lvl8pPr eaLnBrk="1" hangingPunct="1">
        <a:defRPr lang="de-DE">
          <a:solidFill>
            <a:schemeClr val="tx2"/>
          </a:solidFill>
        </a:defRPr>
      </a:lvl8pPr>
      <a:lvl9pPr eaLnBrk="1" hangingPunct="1">
        <a:defRPr lang="de-DE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lang="de-DE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lang="de-DE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lang="de-DE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lang="de-DE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lang="de-DE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lang="de-DE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lang="de-DE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lang="de-DE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lang="de-DE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5" Type="http://schemas.microsoft.com/office/2007/relationships/hdphoto" Target="../media/hdphoto4.wdp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070901"/>
            <a:ext cx="11265407" cy="149961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b="1" dirty="0"/>
              <a:t>Simulation OF Phase 3 - Clinical Trials</a:t>
            </a:r>
            <a:br>
              <a:rPr lang="de-DE" dirty="0"/>
            </a:br>
            <a:br>
              <a:rPr lang="de-DE" dirty="0"/>
            </a:br>
            <a:r>
              <a:rPr lang="de-DE" dirty="0"/>
              <a:t>Pascal Luc</a:t>
            </a:r>
          </a:p>
        </p:txBody>
      </p:sp>
      <p:pic>
        <p:nvPicPr>
          <p:cNvPr id="10" name="Bildplatzhalter 9" descr="Ein Stethoskop auf einem Klemmbrett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8164" b="28164"/>
          <a:stretch/>
        </p:blipFill>
        <p:spPr>
          <a:xfrm>
            <a:off x="448055" y="3103684"/>
            <a:ext cx="11274551" cy="3287971"/>
          </a:xfrm>
        </p:spPr>
      </p:pic>
      <p:sp>
        <p:nvSpPr>
          <p:cNvPr id="2" name="Titel 7">
            <a:extLst>
              <a:ext uri="{FF2B5EF4-FFF2-40B4-BE49-F238E27FC236}">
                <a16:creationId xmlns:a16="http://schemas.microsoft.com/office/drawing/2014/main" id="{1501B2B3-A5F2-FF42-A521-9E9BAA90E6EA}"/>
              </a:ext>
            </a:extLst>
          </p:cNvPr>
          <p:cNvSpPr txBox="1">
            <a:spLocks/>
          </p:cNvSpPr>
          <p:nvPr/>
        </p:nvSpPr>
        <p:spPr>
          <a:xfrm>
            <a:off x="469393" y="2570516"/>
            <a:ext cx="11265407" cy="5331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de-DE"/>
            </a:defPPr>
            <a:lvl1pPr algn="l" defTabSz="457200" rtl="0" eaLnBrk="1" latinLnBrk="0" hangingPunct="1">
              <a:spcBef>
                <a:spcPct val="0"/>
              </a:spcBef>
              <a:buNone/>
              <a:defRPr lang="de-DE"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de-DE">
                <a:solidFill>
                  <a:schemeClr val="tx2"/>
                </a:solidFill>
              </a:defRPr>
            </a:lvl2pPr>
            <a:lvl3pPr eaLnBrk="1" hangingPunct="1">
              <a:defRPr lang="de-DE">
                <a:solidFill>
                  <a:schemeClr val="tx2"/>
                </a:solidFill>
              </a:defRPr>
            </a:lvl3pPr>
            <a:lvl4pPr eaLnBrk="1" hangingPunct="1">
              <a:defRPr lang="de-DE">
                <a:solidFill>
                  <a:schemeClr val="tx2"/>
                </a:solidFill>
              </a:defRPr>
            </a:lvl4pPr>
            <a:lvl5pPr eaLnBrk="1" hangingPunct="1">
              <a:defRPr lang="de-DE">
                <a:solidFill>
                  <a:schemeClr val="tx2"/>
                </a:solidFill>
              </a:defRPr>
            </a:lvl5pPr>
            <a:lvl6pPr eaLnBrk="1" hangingPunct="1">
              <a:defRPr lang="de-DE">
                <a:solidFill>
                  <a:schemeClr val="tx2"/>
                </a:solidFill>
              </a:defRPr>
            </a:lvl6pPr>
            <a:lvl7pPr eaLnBrk="1" hangingPunct="1">
              <a:defRPr lang="de-DE">
                <a:solidFill>
                  <a:schemeClr val="tx2"/>
                </a:solidFill>
              </a:defRPr>
            </a:lvl7pPr>
            <a:lvl8pPr eaLnBrk="1" hangingPunct="1">
              <a:defRPr lang="de-DE">
                <a:solidFill>
                  <a:schemeClr val="tx2"/>
                </a:solidFill>
              </a:defRPr>
            </a:lvl8pPr>
            <a:lvl9pPr eaLnBrk="1" hangingPunct="1">
              <a:defRPr lang="de-DE">
                <a:solidFill>
                  <a:schemeClr val="tx2"/>
                </a:solidFill>
              </a:defRPr>
            </a:lvl9pPr>
          </a:lstStyle>
          <a:p>
            <a:pPr algn="r"/>
            <a:r>
              <a:rPr lang="en-US" dirty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Agenda	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201" y="2862470"/>
            <a:ext cx="3657600" cy="351089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514350" indent="-514350" rtl="0">
              <a:buFont typeface="+mj-lt"/>
              <a:buAutoNum type="arabicPeriod"/>
            </a:pPr>
            <a:r>
              <a:rPr lang="de-DE" sz="2800" dirty="0" err="1"/>
              <a:t>Introduction</a:t>
            </a:r>
            <a:endParaRPr lang="de-DE" sz="2800" dirty="0"/>
          </a:p>
          <a:p>
            <a:pPr marL="514350" indent="-514350">
              <a:buFont typeface="+mj-lt"/>
              <a:buAutoNum type="arabicPeriod"/>
            </a:pPr>
            <a:r>
              <a:rPr lang="de-DE" sz="2800" dirty="0"/>
              <a:t>Problem Analysis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2800" dirty="0"/>
              <a:t>System </a:t>
            </a:r>
            <a:r>
              <a:rPr lang="de-DE" sz="2800" dirty="0" err="1"/>
              <a:t>Boundaries</a:t>
            </a:r>
            <a:endParaRPr lang="de-DE" sz="2800" dirty="0"/>
          </a:p>
          <a:p>
            <a:pPr marL="514350" indent="-514350" rtl="0">
              <a:buFont typeface="+mj-lt"/>
              <a:buAutoNum type="arabicPeriod"/>
            </a:pPr>
            <a:r>
              <a:rPr lang="de-DE" sz="2800" dirty="0"/>
              <a:t>Deep Dive</a:t>
            </a:r>
          </a:p>
        </p:txBody>
      </p:sp>
      <p:pic>
        <p:nvPicPr>
          <p:cNvPr id="34" name="Bildplatzhalter 21" descr="Nahaufnahme eines Stethoskops">
            <a:extLst>
              <a:ext uri="{FF2B5EF4-FFF2-40B4-BE49-F238E27FC236}">
                <a16:creationId xmlns:a16="http://schemas.microsoft.com/office/drawing/2014/main" id="{63F55FD3-B051-BD22-347E-065B72C87E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8" r="148"/>
          <a:stretch/>
        </p:blipFill>
        <p:spPr>
          <a:xfrm>
            <a:off x="4242815" y="640080"/>
            <a:ext cx="7491984" cy="5751576"/>
          </a:xfrm>
        </p:spPr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8D1069-B808-DD0E-E39D-30101A37B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5699760" cy="737537"/>
          </a:xfrm>
        </p:spPr>
        <p:txBody>
          <a:bodyPr/>
          <a:lstStyle/>
          <a:p>
            <a:r>
              <a:rPr lang="en-US" dirty="0">
                <a:solidFill>
                  <a:srgbClr val="465359"/>
                </a:solidFill>
              </a:rPr>
              <a:t>Phases of Clinical Trial</a:t>
            </a: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484E2728-6645-F750-388A-5614FFC4DA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9061954"/>
              </p:ext>
            </p:extLst>
          </p:nvPr>
        </p:nvGraphicFramePr>
        <p:xfrm>
          <a:off x="457200" y="1377616"/>
          <a:ext cx="11277600" cy="1076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C3955964-8CEE-2E49-7478-D22A5A6B67D2}"/>
              </a:ext>
            </a:extLst>
          </p:cNvPr>
          <p:cNvSpPr txBox="1"/>
          <p:nvPr/>
        </p:nvSpPr>
        <p:spPr>
          <a:xfrm>
            <a:off x="457200" y="2450220"/>
            <a:ext cx="241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5359"/>
                </a:solidFill>
              </a:rPr>
              <a:t>Drug Discovery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Questions: </a:t>
            </a:r>
          </a:p>
          <a:p>
            <a:r>
              <a:rPr lang="en-US" dirty="0">
                <a:solidFill>
                  <a:srgbClr val="465359"/>
                </a:solidFill>
              </a:rPr>
              <a:t>Toxicity</a:t>
            </a:r>
          </a:p>
          <a:p>
            <a:r>
              <a:rPr lang="en-US" dirty="0">
                <a:solidFill>
                  <a:srgbClr val="465359"/>
                </a:solidFill>
              </a:rPr>
              <a:t>Side effects</a:t>
            </a:r>
          </a:p>
          <a:p>
            <a:r>
              <a:rPr lang="en-US" dirty="0">
                <a:solidFill>
                  <a:srgbClr val="465359"/>
                </a:solidFill>
              </a:rPr>
              <a:t>Pharmacokinetics</a:t>
            </a:r>
            <a:br>
              <a:rPr lang="en-US" dirty="0">
                <a:solidFill>
                  <a:srgbClr val="465359"/>
                </a:solidFill>
              </a:rPr>
            </a:br>
            <a:r>
              <a:rPr lang="en-US" dirty="0">
                <a:solidFill>
                  <a:srgbClr val="465359"/>
                </a:solidFill>
              </a:rPr>
              <a:t>Initial effectiveness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Laboratory research</a:t>
            </a:r>
          </a:p>
          <a:p>
            <a:r>
              <a:rPr lang="en-US" dirty="0">
                <a:solidFill>
                  <a:srgbClr val="465359"/>
                </a:solidFill>
              </a:rPr>
              <a:t>In vitro</a:t>
            </a:r>
          </a:p>
          <a:p>
            <a:r>
              <a:rPr lang="en-US" dirty="0">
                <a:solidFill>
                  <a:srgbClr val="465359"/>
                </a:solidFill>
              </a:rPr>
              <a:t>Animals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Continuously</a:t>
            </a:r>
          </a:p>
          <a:p>
            <a:endParaRPr lang="en-US" dirty="0">
              <a:solidFill>
                <a:srgbClr val="465359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A0CDC5C-8A19-F1A0-C1F4-D7E5762CBEA4}"/>
              </a:ext>
            </a:extLst>
          </p:cNvPr>
          <p:cNvSpPr txBox="1"/>
          <p:nvPr/>
        </p:nvSpPr>
        <p:spPr>
          <a:xfrm>
            <a:off x="2674090" y="2450220"/>
            <a:ext cx="241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5359"/>
                </a:solidFill>
              </a:rPr>
              <a:t>Safety and Dosage</a:t>
            </a:r>
          </a:p>
          <a:p>
            <a:r>
              <a:rPr lang="en-US" dirty="0">
                <a:solidFill>
                  <a:srgbClr val="465359"/>
                </a:solidFill>
              </a:rPr>
              <a:t>Micro-dosing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Questions:</a:t>
            </a:r>
          </a:p>
          <a:p>
            <a:r>
              <a:rPr lang="en-US" dirty="0">
                <a:solidFill>
                  <a:srgbClr val="465359"/>
                </a:solidFill>
              </a:rPr>
              <a:t>Behavior in humans</a:t>
            </a:r>
          </a:p>
          <a:p>
            <a:r>
              <a:rPr lang="en-US" dirty="0">
                <a:solidFill>
                  <a:srgbClr val="465359"/>
                </a:solidFill>
              </a:rPr>
              <a:t>Pharmacokinetics</a:t>
            </a:r>
          </a:p>
          <a:p>
            <a:r>
              <a:rPr lang="en-US" dirty="0">
                <a:solidFill>
                  <a:srgbClr val="465359"/>
                </a:solidFill>
              </a:rPr>
              <a:t>Side effects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10-100 healthy Participants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Duration: </a:t>
            </a:r>
          </a:p>
          <a:p>
            <a:r>
              <a:rPr lang="en-US" dirty="0">
                <a:solidFill>
                  <a:srgbClr val="465359"/>
                </a:solidFill>
              </a:rPr>
              <a:t>Months – 1 year</a:t>
            </a:r>
          </a:p>
          <a:p>
            <a:endParaRPr lang="en-US" dirty="0">
              <a:solidFill>
                <a:srgbClr val="465359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F8A72F7-4D92-0688-E64C-3255FA9865B0}"/>
              </a:ext>
            </a:extLst>
          </p:cNvPr>
          <p:cNvSpPr txBox="1"/>
          <p:nvPr/>
        </p:nvSpPr>
        <p:spPr>
          <a:xfrm>
            <a:off x="4890980" y="2450220"/>
            <a:ext cx="241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5359"/>
                </a:solidFill>
              </a:rPr>
              <a:t>Effectiveness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Questions:</a:t>
            </a:r>
          </a:p>
          <a:p>
            <a:r>
              <a:rPr lang="en-US" dirty="0">
                <a:solidFill>
                  <a:srgbClr val="465359"/>
                </a:solidFill>
              </a:rPr>
              <a:t>Does it actually work?</a:t>
            </a:r>
          </a:p>
          <a:p>
            <a:r>
              <a:rPr lang="en-US" dirty="0">
                <a:solidFill>
                  <a:srgbClr val="465359"/>
                </a:solidFill>
              </a:rPr>
              <a:t>Optimal dose</a:t>
            </a:r>
          </a:p>
          <a:p>
            <a:r>
              <a:rPr lang="en-US" dirty="0">
                <a:solidFill>
                  <a:srgbClr val="465359"/>
                </a:solidFill>
              </a:rPr>
              <a:t>Short-term side effects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100-300 Participants with the disease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Duration:  </a:t>
            </a:r>
          </a:p>
          <a:p>
            <a:r>
              <a:rPr lang="en-US" dirty="0">
                <a:solidFill>
                  <a:srgbClr val="465359"/>
                </a:solidFill>
              </a:rPr>
              <a:t>1year – 3years</a:t>
            </a:r>
          </a:p>
          <a:p>
            <a:endParaRPr lang="en-US" dirty="0">
              <a:solidFill>
                <a:srgbClr val="465359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37429F2-49A3-2F1A-D573-4815C56AD3D6}"/>
              </a:ext>
            </a:extLst>
          </p:cNvPr>
          <p:cNvSpPr txBox="1"/>
          <p:nvPr/>
        </p:nvSpPr>
        <p:spPr>
          <a:xfrm>
            <a:off x="7107870" y="2450220"/>
            <a:ext cx="241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5359"/>
                </a:solidFill>
              </a:rPr>
              <a:t>Large-Scale Testing</a:t>
            </a:r>
          </a:p>
          <a:p>
            <a:r>
              <a:rPr lang="en-US" dirty="0">
                <a:solidFill>
                  <a:srgbClr val="465359"/>
                </a:solidFill>
              </a:rPr>
              <a:t>Market Approval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Questions:</a:t>
            </a:r>
          </a:p>
          <a:p>
            <a:r>
              <a:rPr lang="en-US" dirty="0">
                <a:solidFill>
                  <a:srgbClr val="465359"/>
                </a:solidFill>
              </a:rPr>
              <a:t>How it compares against: Placebo /</a:t>
            </a:r>
          </a:p>
          <a:p>
            <a:r>
              <a:rPr lang="en-US" dirty="0">
                <a:solidFill>
                  <a:srgbClr val="465359"/>
                </a:solidFill>
              </a:rPr>
              <a:t>Existing treatments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1000-3000 Participants with disease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Duration: </a:t>
            </a:r>
          </a:p>
          <a:p>
            <a:r>
              <a:rPr lang="en-US" dirty="0">
                <a:solidFill>
                  <a:srgbClr val="465359"/>
                </a:solidFill>
              </a:rPr>
              <a:t>Multiple Years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39005E5-6112-A16D-8D81-8E2EF0227080}"/>
              </a:ext>
            </a:extLst>
          </p:cNvPr>
          <p:cNvSpPr txBox="1"/>
          <p:nvPr/>
        </p:nvSpPr>
        <p:spPr>
          <a:xfrm>
            <a:off x="9324761" y="2450220"/>
            <a:ext cx="241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5359"/>
                </a:solidFill>
              </a:rPr>
              <a:t>Long-term safety after approval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Questions:</a:t>
            </a:r>
          </a:p>
          <a:p>
            <a:r>
              <a:rPr lang="en-US" dirty="0">
                <a:solidFill>
                  <a:srgbClr val="465359"/>
                </a:solidFill>
              </a:rPr>
              <a:t>Detect rare side effects</a:t>
            </a:r>
          </a:p>
          <a:p>
            <a:r>
              <a:rPr lang="en-US" dirty="0">
                <a:solidFill>
                  <a:srgbClr val="465359"/>
                </a:solidFill>
              </a:rPr>
              <a:t>Monitor real-world effectiveness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Thousands to millions of patients</a:t>
            </a:r>
          </a:p>
          <a:p>
            <a:endParaRPr lang="en-US" dirty="0">
              <a:solidFill>
                <a:srgbClr val="465359"/>
              </a:solidFill>
            </a:endParaRPr>
          </a:p>
          <a:p>
            <a:endParaRPr lang="en-US" dirty="0">
              <a:solidFill>
                <a:srgbClr val="465359"/>
              </a:solidFill>
            </a:endParaRPr>
          </a:p>
          <a:p>
            <a:r>
              <a:rPr lang="en-US" dirty="0">
                <a:solidFill>
                  <a:srgbClr val="465359"/>
                </a:solidFill>
              </a:rPr>
              <a:t>Duration: </a:t>
            </a:r>
          </a:p>
          <a:p>
            <a:r>
              <a:rPr lang="en-US" dirty="0">
                <a:solidFill>
                  <a:srgbClr val="465359"/>
                </a:solidFill>
              </a:rPr>
              <a:t>years – 10 years</a:t>
            </a:r>
          </a:p>
        </p:txBody>
      </p:sp>
    </p:spTree>
    <p:extLst>
      <p:ext uri="{BB962C8B-B14F-4D97-AF65-F5344CB8AC3E}">
        <p14:creationId xmlns:p14="http://schemas.microsoft.com/office/powerpoint/2010/main" val="185402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3824D-C591-6C5A-A12D-E1A215976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580" y="110257"/>
            <a:ext cx="11292839" cy="1550378"/>
          </a:xfrm>
        </p:spPr>
        <p:txBody>
          <a:bodyPr/>
          <a:lstStyle/>
          <a:p>
            <a:r>
              <a:rPr lang="en-US" dirty="0">
                <a:solidFill>
                  <a:srgbClr val="465359"/>
                </a:solidFill>
              </a:rPr>
              <a:t>Why Simulate Clinical Trials?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70A543-9001-3C7D-E10A-7B3D62FD94B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8246043" y="1835451"/>
            <a:ext cx="3687292" cy="1515752"/>
          </a:xfrm>
        </p:spPr>
        <p:txBody>
          <a:bodyPr anchor="t"/>
          <a:lstStyle/>
          <a:p>
            <a:r>
              <a:rPr lang="en-US" dirty="0"/>
              <a:t>Long Running </a:t>
            </a:r>
          </a:p>
          <a:p>
            <a:pPr lvl="1"/>
            <a:r>
              <a:rPr lang="en-US" dirty="0"/>
              <a:t>Multi Year Project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78A4AE1-309B-E91F-C93B-B47206A5F9E1}"/>
              </a:ext>
            </a:extLst>
          </p:cNvPr>
          <p:cNvSpPr txBox="1">
            <a:spLocks/>
          </p:cNvSpPr>
          <p:nvPr/>
        </p:nvSpPr>
        <p:spPr>
          <a:xfrm>
            <a:off x="4290071" y="1835450"/>
            <a:ext cx="3687292" cy="20206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de-DE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de-DE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de-DE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Many Uncertainties</a:t>
            </a:r>
          </a:p>
          <a:p>
            <a:pPr lvl="1"/>
            <a:r>
              <a:rPr lang="en-US" dirty="0"/>
              <a:t>Consent of Patients</a:t>
            </a:r>
          </a:p>
          <a:p>
            <a:pPr lvl="1"/>
            <a:r>
              <a:rPr lang="en-US" dirty="0"/>
              <a:t>Trial Site Participation</a:t>
            </a:r>
          </a:p>
          <a:p>
            <a:pPr lvl="1"/>
            <a:r>
              <a:rPr lang="en-US" dirty="0"/>
              <a:t>Staffing</a:t>
            </a:r>
          </a:p>
          <a:p>
            <a:pPr lvl="1"/>
            <a:r>
              <a:rPr lang="en-US" dirty="0"/>
              <a:t>Effectiveness of Drug / Device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10D6BE31-B0F0-3396-A370-6ACAA98B48AA}"/>
              </a:ext>
            </a:extLst>
          </p:cNvPr>
          <p:cNvSpPr txBox="1">
            <a:spLocks/>
          </p:cNvSpPr>
          <p:nvPr/>
        </p:nvSpPr>
        <p:spPr>
          <a:xfrm>
            <a:off x="334098" y="1835450"/>
            <a:ext cx="3687292" cy="15935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de-DE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de-DE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de-DE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Complex </a:t>
            </a:r>
          </a:p>
          <a:p>
            <a:pPr lvl="1"/>
            <a:r>
              <a:rPr lang="en-US" dirty="0"/>
              <a:t>Many parties involved</a:t>
            </a:r>
          </a:p>
          <a:p>
            <a:pPr lvl="1"/>
            <a:r>
              <a:rPr lang="en-US" dirty="0"/>
              <a:t>Strictly regulated in Switzerland</a:t>
            </a:r>
          </a:p>
          <a:p>
            <a:pPr lvl="1"/>
            <a:r>
              <a:rPr lang="en-US" dirty="0"/>
              <a:t>Large Number of options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C4EB803F-A064-25D2-0360-9C0D58411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2" y="3929556"/>
            <a:ext cx="10524296" cy="269413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426C9EA-C553-2161-CAAC-EC4AD02ECA28}"/>
              </a:ext>
            </a:extLst>
          </p:cNvPr>
          <p:cNvSpPr txBox="1"/>
          <p:nvPr/>
        </p:nvSpPr>
        <p:spPr>
          <a:xfrm>
            <a:off x="1416972" y="5982999"/>
            <a:ext cx="9429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D8428"/>
                </a:solidFill>
              </a:rPr>
              <a:t>Benefits: Accurate Sample Size determination, resource estimation, avoid unexpected prolongation</a:t>
            </a:r>
          </a:p>
        </p:txBody>
      </p:sp>
    </p:spTree>
    <p:extLst>
      <p:ext uri="{BB962C8B-B14F-4D97-AF65-F5344CB8AC3E}">
        <p14:creationId xmlns:p14="http://schemas.microsoft.com/office/powerpoint/2010/main" val="1674755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9F8D88-D11F-D08B-DE23-74D6F4014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580" y="618184"/>
            <a:ext cx="11292839" cy="645840"/>
          </a:xfrm>
        </p:spPr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Planning Phase (Who is involved?)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99B2D3B-74A2-C195-F6CD-5678A084B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55" y="1177509"/>
            <a:ext cx="10102291" cy="567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4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>
            <a:extLst>
              <a:ext uri="{FF2B5EF4-FFF2-40B4-BE49-F238E27FC236}">
                <a16:creationId xmlns:a16="http://schemas.microsoft.com/office/drawing/2014/main" id="{2EBAE8D1-EF00-40F7-2976-6A215D906B03}"/>
              </a:ext>
            </a:extLst>
          </p:cNvPr>
          <p:cNvSpPr txBox="1">
            <a:spLocks/>
          </p:cNvSpPr>
          <p:nvPr/>
        </p:nvSpPr>
        <p:spPr>
          <a:xfrm>
            <a:off x="449580" y="110257"/>
            <a:ext cx="11292839" cy="18193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de-DE"/>
            </a:defPPr>
            <a:lvl1pPr algn="ctr" defTabSz="457200" rtl="0" eaLnBrk="1" latinLnBrk="0" hangingPunct="1">
              <a:spcBef>
                <a:spcPct val="0"/>
              </a:spcBef>
              <a:buNone/>
              <a:defRPr lang="de-DE"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de-DE">
                <a:solidFill>
                  <a:schemeClr val="tx2"/>
                </a:solidFill>
              </a:defRPr>
            </a:lvl2pPr>
            <a:lvl3pPr eaLnBrk="1" hangingPunct="1">
              <a:defRPr lang="de-DE">
                <a:solidFill>
                  <a:schemeClr val="tx2"/>
                </a:solidFill>
              </a:defRPr>
            </a:lvl3pPr>
            <a:lvl4pPr eaLnBrk="1" hangingPunct="1">
              <a:defRPr lang="de-DE">
                <a:solidFill>
                  <a:schemeClr val="tx2"/>
                </a:solidFill>
              </a:defRPr>
            </a:lvl4pPr>
            <a:lvl5pPr eaLnBrk="1" hangingPunct="1">
              <a:defRPr lang="de-DE">
                <a:solidFill>
                  <a:schemeClr val="tx2"/>
                </a:solidFill>
              </a:defRPr>
            </a:lvl5pPr>
            <a:lvl6pPr eaLnBrk="1" hangingPunct="1">
              <a:defRPr lang="de-DE">
                <a:solidFill>
                  <a:schemeClr val="tx2"/>
                </a:solidFill>
              </a:defRPr>
            </a:lvl6pPr>
            <a:lvl7pPr eaLnBrk="1" hangingPunct="1">
              <a:defRPr lang="de-DE">
                <a:solidFill>
                  <a:schemeClr val="tx2"/>
                </a:solidFill>
              </a:defRPr>
            </a:lvl7pPr>
            <a:lvl8pPr eaLnBrk="1" hangingPunct="1">
              <a:defRPr lang="de-DE">
                <a:solidFill>
                  <a:schemeClr val="tx2"/>
                </a:solidFill>
              </a:defRPr>
            </a:lvl8pPr>
            <a:lvl9pPr eaLnBrk="1" hangingPunct="1">
              <a:defRPr lang="de-DE"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ED8428"/>
                </a:solidFill>
              </a:rPr>
              <a:t>Designs of a Multicentric Trial </a:t>
            </a:r>
          </a:p>
          <a:p>
            <a:r>
              <a:rPr lang="en-US" dirty="0">
                <a:solidFill>
                  <a:srgbClr val="ED8428"/>
                </a:solidFill>
              </a:rPr>
              <a:t>For Drug with New Substances (CAT C KLIN-V)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67E4934-5D0F-D222-83CA-15D9782BA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6027" y="3115211"/>
            <a:ext cx="3761157" cy="276061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5ED1781-B135-1339-721F-8473FE1EA5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 t="5396"/>
          <a:stretch/>
        </p:blipFill>
        <p:spPr>
          <a:xfrm>
            <a:off x="191589" y="3115211"/>
            <a:ext cx="3874865" cy="308283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9594B07-2F3B-3CF9-DB71-1F23EA6126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86758" y="3115211"/>
            <a:ext cx="4105242" cy="3082834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90695438-B062-2C45-2146-91D4CB823B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590" y="1875157"/>
            <a:ext cx="4073606" cy="1042812"/>
          </a:xfrm>
          <a:prstGeom prst="rect">
            <a:avLst/>
          </a:prstGeom>
        </p:spPr>
      </p:pic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9D2FE895-B16D-9231-39F0-680948C489FD}"/>
              </a:ext>
            </a:extLst>
          </p:cNvPr>
          <p:cNvCxnSpPr>
            <a:cxnSpLocks/>
          </p:cNvCxnSpPr>
          <p:nvPr/>
        </p:nvCxnSpPr>
        <p:spPr>
          <a:xfrm>
            <a:off x="3056021" y="2567774"/>
            <a:ext cx="4901163" cy="547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893674E-F5CC-FF26-FD8E-A716B09B052D}"/>
              </a:ext>
            </a:extLst>
          </p:cNvPr>
          <p:cNvCxnSpPr>
            <a:cxnSpLocks/>
          </p:cNvCxnSpPr>
          <p:nvPr/>
        </p:nvCxnSpPr>
        <p:spPr>
          <a:xfrm>
            <a:off x="2683042" y="2567774"/>
            <a:ext cx="1519001" cy="547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711579-D31B-AB2A-0374-388F941B9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580" y="1627162"/>
            <a:ext cx="11292839" cy="1550378"/>
          </a:xfrm>
        </p:spPr>
        <p:txBody>
          <a:bodyPr/>
          <a:lstStyle/>
          <a:p>
            <a:r>
              <a:rPr lang="en-US" dirty="0"/>
              <a:t>Slide Templates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A31D13F-B445-CC1C-26D2-672B5EAFBC17}"/>
              </a:ext>
            </a:extLst>
          </p:cNvPr>
          <p:cNvSpPr txBox="1">
            <a:spLocks/>
          </p:cNvSpPr>
          <p:nvPr/>
        </p:nvSpPr>
        <p:spPr>
          <a:xfrm>
            <a:off x="449580" y="110257"/>
            <a:ext cx="11292839" cy="4279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de-DE"/>
            </a:defPPr>
            <a:lvl1pPr algn="ctr" defTabSz="457200" rtl="0" eaLnBrk="1" latinLnBrk="0" hangingPunct="1">
              <a:spcBef>
                <a:spcPct val="0"/>
              </a:spcBef>
              <a:buNone/>
              <a:defRPr lang="de-DE"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de-DE">
                <a:solidFill>
                  <a:schemeClr val="tx2"/>
                </a:solidFill>
              </a:defRPr>
            </a:lvl2pPr>
            <a:lvl3pPr eaLnBrk="1" hangingPunct="1">
              <a:defRPr lang="de-DE">
                <a:solidFill>
                  <a:schemeClr val="tx2"/>
                </a:solidFill>
              </a:defRPr>
            </a:lvl3pPr>
            <a:lvl4pPr eaLnBrk="1" hangingPunct="1">
              <a:defRPr lang="de-DE">
                <a:solidFill>
                  <a:schemeClr val="tx2"/>
                </a:solidFill>
              </a:defRPr>
            </a:lvl4pPr>
            <a:lvl5pPr eaLnBrk="1" hangingPunct="1">
              <a:defRPr lang="de-DE">
                <a:solidFill>
                  <a:schemeClr val="tx2"/>
                </a:solidFill>
              </a:defRPr>
            </a:lvl5pPr>
            <a:lvl6pPr eaLnBrk="1" hangingPunct="1">
              <a:defRPr lang="de-DE">
                <a:solidFill>
                  <a:schemeClr val="tx2"/>
                </a:solidFill>
              </a:defRPr>
            </a:lvl6pPr>
            <a:lvl7pPr eaLnBrk="1" hangingPunct="1">
              <a:defRPr lang="de-DE">
                <a:solidFill>
                  <a:schemeClr val="tx2"/>
                </a:solidFill>
              </a:defRPr>
            </a:lvl7pPr>
            <a:lvl8pPr eaLnBrk="1" hangingPunct="1">
              <a:defRPr lang="de-DE">
                <a:solidFill>
                  <a:schemeClr val="tx2"/>
                </a:solidFill>
              </a:defRPr>
            </a:lvl8pPr>
            <a:lvl9pPr eaLnBrk="1" hangingPunct="1">
              <a:defRPr lang="de-DE"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ED8428"/>
                </a:solidFill>
              </a:rPr>
              <a:t>Implementation Phase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FAB056-0998-5200-B926-4D58D19FA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96781"/>
            <a:ext cx="12192000" cy="615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6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platzhalter 15" descr="Eine Gruppe von Chirurgen mit OP-Hauben und Masken">
            <a:extLst>
              <a:ext uri="{FF2B5EF4-FFF2-40B4-BE49-F238E27FC236}">
                <a16:creationId xmlns:a16="http://schemas.microsoft.com/office/drawing/2014/main" id="{6EFD6230-A50E-3A63-7B72-59A8449CAEE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t="43525" b="45809"/>
          <a:stretch/>
        </p:blipFill>
        <p:spPr>
          <a:xfrm>
            <a:off x="457200" y="600891"/>
            <a:ext cx="11267440" cy="801189"/>
          </a:xfr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01000" y="1532709"/>
            <a:ext cx="3723640" cy="5325291"/>
          </a:xfrm>
        </p:spPr>
        <p:txBody>
          <a:bodyPr rtlCol="0" anchor="t">
            <a:normAutofit fontScale="92500" lnSpcReduction="20000"/>
          </a:bodyPr>
          <a:lstStyle>
            <a:defPPr>
              <a:defRPr lang="de-DE"/>
            </a:defPPr>
          </a:lstStyle>
          <a:p>
            <a:pPr marL="0" lvl="1" indent="0">
              <a:buNone/>
            </a:pPr>
            <a:r>
              <a:rPr lang="de-DE" sz="2400" dirty="0" err="1">
                <a:solidFill>
                  <a:srgbClr val="465359"/>
                </a:solidFill>
              </a:rPr>
              <a:t>KeyPerformanceIndicator</a:t>
            </a:r>
            <a:r>
              <a:rPr lang="de-DE" sz="2400" dirty="0" err="1"/>
              <a:t>s</a:t>
            </a:r>
            <a:endParaRPr lang="de-DE" sz="2400" dirty="0"/>
          </a:p>
          <a:p>
            <a:pPr marL="0" lvl="1" indent="0">
              <a:buNone/>
            </a:pPr>
            <a:r>
              <a:rPr lang="de-DE" sz="1800" dirty="0">
                <a:solidFill>
                  <a:srgbClr val="465359"/>
                </a:solidFill>
              </a:rPr>
              <a:t>Run Time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Total Run Time (Days)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Trial Arm Run Time (Days)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Delays (Days)</a:t>
            </a:r>
          </a:p>
          <a:p>
            <a:pPr marL="0" lvl="1" indent="0">
              <a:buNone/>
            </a:pPr>
            <a:r>
              <a:rPr lang="de-DE" sz="1800" dirty="0">
                <a:solidFill>
                  <a:srgbClr val="465359"/>
                </a:solidFill>
              </a:rPr>
              <a:t>Ressource </a:t>
            </a:r>
            <a:r>
              <a:rPr lang="de-DE" sz="1800" dirty="0" err="1">
                <a:solidFill>
                  <a:srgbClr val="465359"/>
                </a:solidFill>
              </a:rPr>
              <a:t>Utilization</a:t>
            </a:r>
            <a:endParaRPr lang="de-DE" sz="1800" dirty="0">
              <a:solidFill>
                <a:srgbClr val="465359"/>
              </a:solidFill>
            </a:endParaRPr>
          </a:p>
          <a:p>
            <a:pPr marL="360000" lvl="3"/>
            <a:r>
              <a:rPr lang="de-DE" sz="1400" dirty="0" err="1">
                <a:solidFill>
                  <a:srgbClr val="465359"/>
                </a:solidFill>
              </a:rPr>
              <a:t>Staff_Utilization</a:t>
            </a:r>
            <a:r>
              <a:rPr lang="de-DE" sz="1400" dirty="0">
                <a:solidFill>
                  <a:srgbClr val="465359"/>
                </a:solidFill>
              </a:rPr>
              <a:t> / Site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# Patient / Site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# </a:t>
            </a:r>
            <a:r>
              <a:rPr lang="de-DE" sz="1400" dirty="0" err="1">
                <a:solidFill>
                  <a:srgbClr val="465359"/>
                </a:solidFill>
              </a:rPr>
              <a:t>Patient_non_consenting</a:t>
            </a:r>
            <a:r>
              <a:rPr lang="de-DE" sz="1400" dirty="0">
                <a:solidFill>
                  <a:srgbClr val="465359"/>
                </a:solidFill>
              </a:rPr>
              <a:t> / Site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# Visits / Patient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# Treatment / Patient</a:t>
            </a:r>
          </a:p>
          <a:p>
            <a:pPr marL="76536" lvl="3" indent="0">
              <a:buNone/>
            </a:pPr>
            <a:r>
              <a:rPr lang="de-DE" sz="1800" dirty="0">
                <a:solidFill>
                  <a:srgbClr val="465359"/>
                </a:solidFill>
              </a:rPr>
              <a:t>Trial Design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# Patient / Compound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# (</a:t>
            </a:r>
            <a:r>
              <a:rPr lang="de-DE" sz="1400" dirty="0" err="1">
                <a:solidFill>
                  <a:srgbClr val="465359"/>
                </a:solidFill>
              </a:rPr>
              <a:t>xT</a:t>
            </a:r>
            <a:r>
              <a:rPr lang="de-DE" sz="1400" dirty="0">
                <a:solidFill>
                  <a:srgbClr val="465359"/>
                </a:solidFill>
              </a:rPr>
              <a:t>, </a:t>
            </a:r>
            <a:r>
              <a:rPr lang="de-DE" sz="1400" dirty="0" err="1">
                <a:solidFill>
                  <a:srgbClr val="465359"/>
                </a:solidFill>
              </a:rPr>
              <a:t>xC</a:t>
            </a:r>
            <a:r>
              <a:rPr lang="de-DE" sz="1400" dirty="0">
                <a:solidFill>
                  <a:srgbClr val="465359"/>
                </a:solidFill>
              </a:rPr>
              <a:t>) Positive Outcomes / Compound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# (</a:t>
            </a:r>
            <a:r>
              <a:rPr lang="de-DE" sz="1400" dirty="0" err="1">
                <a:solidFill>
                  <a:srgbClr val="465359"/>
                </a:solidFill>
              </a:rPr>
              <a:t>fT</a:t>
            </a:r>
            <a:r>
              <a:rPr lang="de-DE" sz="1400" dirty="0">
                <a:solidFill>
                  <a:srgbClr val="465359"/>
                </a:solidFill>
              </a:rPr>
              <a:t>, </a:t>
            </a:r>
            <a:r>
              <a:rPr lang="de-DE" sz="1400" dirty="0" err="1">
                <a:solidFill>
                  <a:srgbClr val="465359"/>
                </a:solidFill>
              </a:rPr>
              <a:t>fC</a:t>
            </a:r>
            <a:r>
              <a:rPr lang="de-DE" sz="1400" dirty="0">
                <a:solidFill>
                  <a:srgbClr val="465359"/>
                </a:solidFill>
              </a:rPr>
              <a:t>) Negative Outcomes / Compound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# (</a:t>
            </a:r>
            <a:r>
              <a:rPr lang="de-DE" sz="1400" dirty="0" err="1">
                <a:solidFill>
                  <a:srgbClr val="465359"/>
                </a:solidFill>
              </a:rPr>
              <a:t>dT,dC</a:t>
            </a:r>
            <a:r>
              <a:rPr lang="de-DE" sz="1400" dirty="0">
                <a:solidFill>
                  <a:srgbClr val="465359"/>
                </a:solidFill>
              </a:rPr>
              <a:t>) Drop-Outs / Compound</a:t>
            </a: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# Trial Change due </a:t>
            </a:r>
            <a:r>
              <a:rPr lang="de-DE" sz="1400" dirty="0" err="1">
                <a:solidFill>
                  <a:srgbClr val="465359"/>
                </a:solidFill>
              </a:rPr>
              <a:t>to</a:t>
            </a:r>
            <a:r>
              <a:rPr lang="de-DE" sz="1400" dirty="0">
                <a:solidFill>
                  <a:srgbClr val="465359"/>
                </a:solidFill>
              </a:rPr>
              <a:t> </a:t>
            </a:r>
            <a:r>
              <a:rPr lang="de-DE" sz="1400" dirty="0" err="1">
                <a:solidFill>
                  <a:srgbClr val="465359"/>
                </a:solidFill>
              </a:rPr>
              <a:t>outcome</a:t>
            </a:r>
            <a:endParaRPr lang="de-DE" sz="1400" dirty="0">
              <a:solidFill>
                <a:srgbClr val="465359"/>
              </a:solidFill>
            </a:endParaRPr>
          </a:p>
          <a:p>
            <a:pPr marL="360000" lvl="3"/>
            <a:r>
              <a:rPr lang="de-DE" sz="1400" dirty="0">
                <a:solidFill>
                  <a:srgbClr val="465359"/>
                </a:solidFill>
              </a:rPr>
              <a:t># Trial Change due </a:t>
            </a:r>
            <a:r>
              <a:rPr lang="de-DE" sz="1400" dirty="0" err="1">
                <a:solidFill>
                  <a:srgbClr val="465359"/>
                </a:solidFill>
              </a:rPr>
              <a:t>to</a:t>
            </a:r>
            <a:r>
              <a:rPr lang="de-DE" sz="1400" dirty="0">
                <a:solidFill>
                  <a:srgbClr val="465359"/>
                </a:solidFill>
              </a:rPr>
              <a:t> adverse </a:t>
            </a:r>
            <a:r>
              <a:rPr lang="de-DE" sz="1400" dirty="0" err="1">
                <a:solidFill>
                  <a:srgbClr val="465359"/>
                </a:solidFill>
              </a:rPr>
              <a:t>event</a:t>
            </a:r>
            <a:endParaRPr lang="de-DE" sz="1400" dirty="0">
              <a:solidFill>
                <a:srgbClr val="465359"/>
              </a:solidFill>
            </a:endParaRPr>
          </a:p>
        </p:txBody>
      </p:sp>
      <p:sp>
        <p:nvSpPr>
          <p:cNvPr id="5" name="Inhaltsplatzhalter 9">
            <a:extLst>
              <a:ext uri="{FF2B5EF4-FFF2-40B4-BE49-F238E27FC236}">
                <a16:creationId xmlns:a16="http://schemas.microsoft.com/office/drawing/2014/main" id="{802876A6-0800-8A3E-9A2A-4EED8C7C3FBA}"/>
              </a:ext>
            </a:extLst>
          </p:cNvPr>
          <p:cNvSpPr txBox="1">
            <a:spLocks/>
          </p:cNvSpPr>
          <p:nvPr/>
        </p:nvSpPr>
        <p:spPr>
          <a:xfrm>
            <a:off x="480423" y="1521823"/>
            <a:ext cx="5628640" cy="532529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de-DE"/>
            </a:defPPr>
            <a:lvl1pPr marL="283464" indent="-283464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anose="020B0604020202020204" pitchFamily="34" charset="0"/>
              <a:buChar char="•"/>
              <a:defRPr lang="de-DE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anose="020B0604020202020204" pitchFamily="34" charset="0"/>
              <a:buChar char="•"/>
              <a:defRPr lang="de-DE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anose="020B0604020202020204" pitchFamily="34" charset="0"/>
              <a:buChar char="•"/>
              <a:defRPr lang="de-DE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anose="020B0604020202020204" pitchFamily="34" charset="0"/>
              <a:buChar char="•"/>
              <a:defRPr lang="de-DE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anose="020B0604020202020204" pitchFamily="34" charset="0"/>
              <a:buChar char="•"/>
              <a:defRPr lang="de-DE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465359"/>
                </a:solidFill>
              </a:rPr>
              <a:t>Objectives</a:t>
            </a:r>
          </a:p>
          <a:p>
            <a:r>
              <a:rPr lang="en-US" dirty="0">
                <a:solidFill>
                  <a:srgbClr val="465359"/>
                </a:solidFill>
              </a:rPr>
              <a:t>Assessing total runtime of a trial design</a:t>
            </a:r>
          </a:p>
          <a:p>
            <a:r>
              <a:rPr lang="en-US" dirty="0">
                <a:solidFill>
                  <a:srgbClr val="465359"/>
                </a:solidFill>
              </a:rPr>
              <a:t>Assessing impact of delays on runtime</a:t>
            </a:r>
          </a:p>
          <a:p>
            <a:r>
              <a:rPr lang="en-US" dirty="0">
                <a:solidFill>
                  <a:srgbClr val="465359"/>
                </a:solidFill>
              </a:rPr>
              <a:t>Assessing impact of trial changes on runtime </a:t>
            </a:r>
          </a:p>
          <a:p>
            <a:r>
              <a:rPr lang="en-US" sz="1800" dirty="0">
                <a:solidFill>
                  <a:srgbClr val="465359"/>
                </a:solidFill>
              </a:rPr>
              <a:t>Determining the utilization levels of individual system components</a:t>
            </a:r>
          </a:p>
          <a:p>
            <a:r>
              <a:rPr lang="en-US" sz="1800" dirty="0">
                <a:solidFill>
                  <a:srgbClr val="465359"/>
                </a:solidFill>
              </a:rPr>
              <a:t>Assessing number trial changes</a:t>
            </a:r>
          </a:p>
          <a:p>
            <a:r>
              <a:rPr lang="en-US" sz="1800" dirty="0">
                <a:solidFill>
                  <a:srgbClr val="465359"/>
                </a:solidFill>
              </a:rPr>
              <a:t>Determining when to stop a trial arm</a:t>
            </a:r>
          </a:p>
          <a:p>
            <a:r>
              <a:rPr lang="en-US" dirty="0">
                <a:solidFill>
                  <a:srgbClr val="465359"/>
                </a:solidFill>
              </a:rPr>
              <a:t>Determining when to stop the clinical trial</a:t>
            </a:r>
            <a:endParaRPr lang="en-US" sz="1800" dirty="0">
              <a:solidFill>
                <a:srgbClr val="465359"/>
              </a:solidFill>
            </a:endParaRPr>
          </a:p>
          <a:p>
            <a:pPr marL="0" lvl="1" indent="0">
              <a:buFont typeface="Arial" panose="020B0604020202020204" pitchFamily="34" charset="0"/>
              <a:buNone/>
            </a:pPr>
            <a:endParaRPr lang="en-US" sz="1800" dirty="0"/>
          </a:p>
          <a:p>
            <a:pPr lvl="1"/>
            <a:endParaRPr lang="en-US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0B7039F-D61C-7FB3-E6B1-443C2AF4F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0" y="5149516"/>
            <a:ext cx="6954618" cy="1602046"/>
          </a:xfrm>
          <a:prstGeom prst="rect">
            <a:avLst/>
          </a:prstGeom>
        </p:spPr>
      </p:pic>
      <p:sp>
        <p:nvSpPr>
          <p:cNvPr id="11" name="Geschweifte Klammer rechts 10">
            <a:extLst>
              <a:ext uri="{FF2B5EF4-FFF2-40B4-BE49-F238E27FC236}">
                <a16:creationId xmlns:a16="http://schemas.microsoft.com/office/drawing/2014/main" id="{6AF69B6D-13B6-D3A6-0773-E96B166357E1}"/>
              </a:ext>
            </a:extLst>
          </p:cNvPr>
          <p:cNvSpPr/>
          <p:nvPr/>
        </p:nvSpPr>
        <p:spPr>
          <a:xfrm>
            <a:off x="7068550" y="1909927"/>
            <a:ext cx="709865" cy="1149016"/>
          </a:xfrm>
          <a:prstGeom prst="rightBrace">
            <a:avLst>
              <a:gd name="adj1" fmla="val 8333"/>
              <a:gd name="adj2" fmla="val 15252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1226045-B262-FF35-5929-B0FA2ECB2CE5}"/>
              </a:ext>
            </a:extLst>
          </p:cNvPr>
          <p:cNvCxnSpPr>
            <a:cxnSpLocks/>
          </p:cNvCxnSpPr>
          <p:nvPr/>
        </p:nvCxnSpPr>
        <p:spPr>
          <a:xfrm flipV="1">
            <a:off x="6003758" y="3218647"/>
            <a:ext cx="1997242" cy="2103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eschweifte Klammer rechts 14">
            <a:extLst>
              <a:ext uri="{FF2B5EF4-FFF2-40B4-BE49-F238E27FC236}">
                <a16:creationId xmlns:a16="http://schemas.microsoft.com/office/drawing/2014/main" id="{2D76D55F-0426-F8E0-8816-982C230C95AD}"/>
              </a:ext>
            </a:extLst>
          </p:cNvPr>
          <p:cNvSpPr/>
          <p:nvPr/>
        </p:nvSpPr>
        <p:spPr>
          <a:xfrm>
            <a:off x="7068550" y="3958390"/>
            <a:ext cx="782053" cy="2731168"/>
          </a:xfrm>
          <a:prstGeom prst="rightBrace">
            <a:avLst>
              <a:gd name="adj1" fmla="val 8333"/>
              <a:gd name="adj2" fmla="val 34620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D16FD2-B960-AE5D-99D9-B4589F36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4754"/>
            <a:ext cx="2834943" cy="860257"/>
          </a:xfrm>
        </p:spPr>
        <p:txBody>
          <a:bodyPr anchor="t"/>
          <a:lstStyle/>
          <a:p>
            <a:pPr marL="0" lvl="1" indent="0">
              <a:buNone/>
            </a:pPr>
            <a:r>
              <a:rPr lang="de-DE" dirty="0">
                <a:solidFill>
                  <a:srgbClr val="465359"/>
                </a:solidFill>
              </a:rPr>
              <a:t>Trial (-arm) </a:t>
            </a:r>
            <a:r>
              <a:rPr lang="de-DE" dirty="0" err="1">
                <a:solidFill>
                  <a:srgbClr val="465359"/>
                </a:solidFill>
              </a:rPr>
              <a:t>stop</a:t>
            </a:r>
            <a:r>
              <a:rPr lang="de-DE" dirty="0">
                <a:solidFill>
                  <a:srgbClr val="465359"/>
                </a:solidFill>
              </a:rPr>
              <a:t> /</a:t>
            </a:r>
            <a:br>
              <a:rPr lang="de-DE" dirty="0">
                <a:solidFill>
                  <a:srgbClr val="465359"/>
                </a:solidFill>
              </a:rPr>
            </a:br>
            <a:r>
              <a:rPr lang="de-DE" dirty="0" err="1">
                <a:solidFill>
                  <a:srgbClr val="465359"/>
                </a:solidFill>
              </a:rPr>
              <a:t>Regulatory</a:t>
            </a:r>
            <a:r>
              <a:rPr lang="de-DE" dirty="0">
                <a:solidFill>
                  <a:srgbClr val="465359"/>
                </a:solidFill>
              </a:rPr>
              <a:t> </a:t>
            </a:r>
            <a:r>
              <a:rPr lang="de-DE" dirty="0" err="1">
                <a:solidFill>
                  <a:srgbClr val="465359"/>
                </a:solidFill>
              </a:rPr>
              <a:t>requirements</a:t>
            </a:r>
            <a:r>
              <a:rPr lang="de-DE" dirty="0">
                <a:solidFill>
                  <a:srgbClr val="465359"/>
                </a:solidFill>
              </a:rPr>
              <a:t>: </a:t>
            </a:r>
            <a:br>
              <a:rPr lang="de-DE" dirty="0">
                <a:solidFill>
                  <a:srgbClr val="465359"/>
                </a:solidFill>
              </a:rPr>
            </a:br>
            <a:endParaRPr lang="de-DE" dirty="0">
              <a:solidFill>
                <a:srgbClr val="465359"/>
              </a:solidFill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4474B8-3BDC-FFB6-33E1-BD634E3E5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52352" y="1637909"/>
            <a:ext cx="5493916" cy="1995769"/>
          </a:xfrm>
        </p:spPr>
        <p:txBody>
          <a:bodyPr anchor="t">
            <a:normAutofit/>
          </a:bodyPr>
          <a:lstStyle/>
          <a:p>
            <a:pPr marL="76536" lvl="3" indent="0">
              <a:buNone/>
            </a:pPr>
            <a:r>
              <a:rPr lang="de-DE" sz="1800" dirty="0">
                <a:solidFill>
                  <a:srgbClr val="465359"/>
                </a:solidFill>
              </a:rPr>
              <a:t>KPI </a:t>
            </a:r>
            <a:r>
              <a:rPr lang="de-DE" sz="1800" dirty="0" err="1">
                <a:solidFill>
                  <a:srgbClr val="465359"/>
                </a:solidFill>
              </a:rPr>
              <a:t>Threshholds</a:t>
            </a:r>
            <a:r>
              <a:rPr lang="de-DE" sz="1800" dirty="0">
                <a:solidFill>
                  <a:srgbClr val="465359"/>
                </a:solidFill>
              </a:rPr>
              <a:t> (</a:t>
            </a:r>
            <a:r>
              <a:rPr lang="en-US" sz="1800" dirty="0">
                <a:solidFill>
                  <a:srgbClr val="465359"/>
                </a:solidFill>
              </a:rPr>
              <a:t>depend on # compounds</a:t>
            </a:r>
            <a:r>
              <a:rPr lang="de-DE" sz="1800" dirty="0">
                <a:solidFill>
                  <a:srgbClr val="465359"/>
                </a:solidFill>
              </a:rPr>
              <a:t>):</a:t>
            </a:r>
          </a:p>
          <a:p>
            <a:pPr marL="360000" lvl="3" indent="-285750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de-DE" sz="1800" dirty="0" err="1">
                <a:solidFill>
                  <a:srgbClr val="465359"/>
                </a:solidFill>
              </a:rPr>
              <a:t>Significance</a:t>
            </a:r>
            <a:r>
              <a:rPr lang="de-DE" sz="1800" dirty="0">
                <a:solidFill>
                  <a:srgbClr val="465359"/>
                </a:solidFill>
              </a:rPr>
              <a:t>: P-Value: &lt;0.01, Z-Score &gt;2.58</a:t>
            </a:r>
          </a:p>
          <a:p>
            <a:pPr marL="360000" lvl="3" indent="-285750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de-DE" sz="1800" dirty="0">
                <a:solidFill>
                  <a:srgbClr val="465359"/>
                </a:solidFill>
              </a:rPr>
              <a:t>Confidence Intervall: &gt;99% </a:t>
            </a:r>
          </a:p>
          <a:p>
            <a:pPr marL="360000" lvl="3" indent="-285750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de-DE" sz="1800" dirty="0" err="1">
                <a:solidFill>
                  <a:srgbClr val="465359"/>
                </a:solidFill>
              </a:rPr>
              <a:t>Effect</a:t>
            </a:r>
            <a:r>
              <a:rPr lang="de-DE" sz="1800" dirty="0">
                <a:solidFill>
                  <a:srgbClr val="465359"/>
                </a:solidFill>
              </a:rPr>
              <a:t> Size: +10% </a:t>
            </a:r>
          </a:p>
          <a:p>
            <a:pPr marL="360000" lvl="3" indent="-285750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de-DE" sz="1800" dirty="0">
                <a:solidFill>
                  <a:srgbClr val="465359"/>
                </a:solidFill>
              </a:rPr>
              <a:t>Statistical Power: &gt;90%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F94262F-2E18-81B1-9A54-9165717AA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013" y="1481877"/>
            <a:ext cx="3372321" cy="733527"/>
          </a:xfrm>
          <a:prstGeom prst="rect">
            <a:avLst/>
          </a:prstGeom>
        </p:spPr>
      </p:pic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7B9E44DB-38A9-EAAD-184C-E59B6C3D8837}"/>
              </a:ext>
            </a:extLst>
          </p:cNvPr>
          <p:cNvSpPr txBox="1">
            <a:spLocks/>
          </p:cNvSpPr>
          <p:nvPr/>
        </p:nvSpPr>
        <p:spPr>
          <a:xfrm>
            <a:off x="8340829" y="1262380"/>
            <a:ext cx="3675648" cy="121519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de-DE"/>
            </a:defPPr>
            <a:lvl1pPr marL="283464" indent="-283464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anose="020B0604020202020204" pitchFamily="34" charset="0"/>
              <a:buChar char="•"/>
              <a:defRPr lang="de-DE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anose="020B0604020202020204" pitchFamily="34" charset="0"/>
              <a:buChar char="•"/>
              <a:defRPr lang="de-DE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anose="020B0604020202020204" pitchFamily="34" charset="0"/>
              <a:buChar char="•"/>
              <a:defRPr lang="de-DE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anose="020B0604020202020204" pitchFamily="34" charset="0"/>
              <a:buChar char="•"/>
              <a:defRPr lang="de-DE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Arial" panose="020B0604020202020204" pitchFamily="34" charset="0"/>
              <a:buChar char="•"/>
              <a:defRPr lang="de-DE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lang="de-DE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536" lvl="3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ED8428"/>
                </a:solidFill>
              </a:rPr>
              <a:t>Example P-Value:</a:t>
            </a:r>
          </a:p>
        </p:txBody>
      </p:sp>
      <p:sp>
        <p:nvSpPr>
          <p:cNvPr id="11" name="Geschweifte Klammer links 10">
            <a:extLst>
              <a:ext uri="{FF2B5EF4-FFF2-40B4-BE49-F238E27FC236}">
                <a16:creationId xmlns:a16="http://schemas.microsoft.com/office/drawing/2014/main" id="{C679F9CA-B483-B157-6CA5-51BDA6F03629}"/>
              </a:ext>
            </a:extLst>
          </p:cNvPr>
          <p:cNvSpPr/>
          <p:nvPr/>
        </p:nvSpPr>
        <p:spPr>
          <a:xfrm>
            <a:off x="3244514" y="1732011"/>
            <a:ext cx="433136" cy="18318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D507838-FC68-BA4D-89C9-AABC7D54A045}"/>
              </a:ext>
            </a:extLst>
          </p:cNvPr>
          <p:cNvSpPr txBox="1"/>
          <p:nvPr/>
        </p:nvSpPr>
        <p:spPr>
          <a:xfrm>
            <a:off x="3814009" y="3633678"/>
            <a:ext cx="8181473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3" indent="-342900">
              <a:spcBef>
                <a:spcPts val="400"/>
              </a:spcBef>
              <a:spcAft>
                <a:spcPts val="600"/>
              </a:spcAft>
              <a:buClr>
                <a:srgbClr val="ED8428"/>
              </a:buClr>
              <a:buSzPct val="92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65359"/>
                </a:solidFill>
              </a:rPr>
              <a:t>Patient rate (suitable additional candidates during trial):  </a:t>
            </a:r>
            <a:r>
              <a:rPr lang="en-US" dirty="0" err="1">
                <a:solidFill>
                  <a:srgbClr val="465359"/>
                </a:solidFill>
              </a:rPr>
              <a:t>RateTable</a:t>
            </a:r>
            <a:endParaRPr lang="en-US" dirty="0">
              <a:solidFill>
                <a:srgbClr val="465359"/>
              </a:solidFill>
            </a:endParaRPr>
          </a:p>
          <a:p>
            <a:pPr marL="342900" lvl="3" indent="-342900">
              <a:spcBef>
                <a:spcPts val="400"/>
              </a:spcBef>
              <a:spcAft>
                <a:spcPts val="600"/>
              </a:spcAft>
              <a:buClr>
                <a:srgbClr val="ED8428"/>
              </a:buClr>
              <a:buSzPct val="92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65359"/>
                </a:solidFill>
              </a:rPr>
              <a:t>Additional Trial Arm added per year (simulate discovery of new compound): 1</a:t>
            </a:r>
          </a:p>
          <a:p>
            <a:pPr marL="342900" lvl="3" indent="-342900">
              <a:spcBef>
                <a:spcPts val="400"/>
              </a:spcBef>
              <a:spcAft>
                <a:spcPts val="600"/>
              </a:spcAft>
              <a:buClr>
                <a:srgbClr val="ED8428"/>
              </a:buClr>
              <a:buSzPct val="92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65359"/>
                </a:solidFill>
              </a:rPr>
              <a:t>Trial Arm switch trial arm stop: 50%</a:t>
            </a:r>
          </a:p>
          <a:p>
            <a:pPr marL="342900" lvl="3" indent="-342900">
              <a:spcBef>
                <a:spcPts val="400"/>
              </a:spcBef>
              <a:spcAft>
                <a:spcPts val="600"/>
              </a:spcAft>
              <a:buClr>
                <a:srgbClr val="ED8428"/>
              </a:buClr>
              <a:buSzPct val="92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65359"/>
                </a:solidFill>
              </a:rPr>
              <a:t>Trial Arm switch low efficacy: 10%</a:t>
            </a:r>
          </a:p>
          <a:p>
            <a:pPr marL="342900" lvl="3" indent="-342900">
              <a:spcBef>
                <a:spcPts val="400"/>
              </a:spcBef>
              <a:spcAft>
                <a:spcPts val="600"/>
              </a:spcAft>
              <a:buClr>
                <a:srgbClr val="ED8428"/>
              </a:buClr>
              <a:buSzPct val="92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65359"/>
                </a:solidFill>
              </a:rPr>
              <a:t>Wash-out duration (Patient need to wait until effect of previous Compound is washed out, before enrolling to new trial arm): 15 days</a:t>
            </a:r>
          </a:p>
          <a:p>
            <a:pPr marL="342900" lvl="3" indent="-342900">
              <a:spcBef>
                <a:spcPts val="400"/>
              </a:spcBef>
              <a:spcAft>
                <a:spcPts val="600"/>
              </a:spcAft>
              <a:buClr>
                <a:srgbClr val="ED8428"/>
              </a:buClr>
              <a:buSzPct val="92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65359"/>
                </a:solidFill>
              </a:rPr>
              <a:t>Adverse Events as a percentage of all visits with treatments: 5%</a:t>
            </a:r>
          </a:p>
          <a:p>
            <a:pPr marL="342900" lvl="3" indent="-342900">
              <a:spcBef>
                <a:spcPts val="400"/>
              </a:spcBef>
              <a:spcAft>
                <a:spcPts val="600"/>
              </a:spcAft>
              <a:buClr>
                <a:srgbClr val="ED8428"/>
              </a:buClr>
              <a:buSzPct val="92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65359"/>
                </a:solidFill>
              </a:rPr>
              <a:t>Patient drop-out rate: 10%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05F8DDD-BBD4-BD83-1504-EA1AB637B716}"/>
              </a:ext>
            </a:extLst>
          </p:cNvPr>
          <p:cNvSpPr txBox="1">
            <a:spLocks/>
          </p:cNvSpPr>
          <p:nvPr/>
        </p:nvSpPr>
        <p:spPr>
          <a:xfrm>
            <a:off x="457199" y="4715314"/>
            <a:ext cx="2834943" cy="1134979"/>
          </a:xfrm>
          <a:prstGeom prst="rect">
            <a:avLst/>
          </a:prstGeom>
        </p:spPr>
        <p:txBody>
          <a:bodyPr vert="horz" lIns="91440" tIns="182880" rIns="91440" bIns="182880" rtlCol="0" anchor="t" anchorCtr="0">
            <a:noAutofit/>
          </a:bodyPr>
          <a:lstStyle>
            <a:defPPr>
              <a:defRPr lang="de-DE"/>
            </a:defPPr>
            <a:lvl1pPr algn="l" defTabSz="457200" rtl="0" eaLnBrk="1" latinLnBrk="0" hangingPunct="1">
              <a:spcBef>
                <a:spcPct val="0"/>
              </a:spcBef>
              <a:buNone/>
              <a:defRPr lang="de-DE"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de-DE">
                <a:solidFill>
                  <a:schemeClr val="tx2"/>
                </a:solidFill>
              </a:defRPr>
            </a:lvl2pPr>
            <a:lvl3pPr eaLnBrk="1" hangingPunct="1">
              <a:defRPr lang="de-DE">
                <a:solidFill>
                  <a:schemeClr val="tx2"/>
                </a:solidFill>
              </a:defRPr>
            </a:lvl3pPr>
            <a:lvl4pPr eaLnBrk="1" hangingPunct="1">
              <a:defRPr lang="de-DE">
                <a:solidFill>
                  <a:schemeClr val="tx2"/>
                </a:solidFill>
              </a:defRPr>
            </a:lvl4pPr>
            <a:lvl5pPr eaLnBrk="1" hangingPunct="1">
              <a:defRPr lang="de-DE">
                <a:solidFill>
                  <a:schemeClr val="tx2"/>
                </a:solidFill>
              </a:defRPr>
            </a:lvl5pPr>
            <a:lvl6pPr eaLnBrk="1" hangingPunct="1">
              <a:defRPr lang="de-DE">
                <a:solidFill>
                  <a:schemeClr val="tx2"/>
                </a:solidFill>
              </a:defRPr>
            </a:lvl6pPr>
            <a:lvl7pPr eaLnBrk="1" hangingPunct="1">
              <a:defRPr lang="de-DE">
                <a:solidFill>
                  <a:schemeClr val="tx2"/>
                </a:solidFill>
              </a:defRPr>
            </a:lvl7pPr>
            <a:lvl8pPr eaLnBrk="1" hangingPunct="1">
              <a:defRPr lang="de-DE">
                <a:solidFill>
                  <a:schemeClr val="tx2"/>
                </a:solidFill>
              </a:defRPr>
            </a:lvl8pPr>
            <a:lvl9pPr eaLnBrk="1" hangingPunct="1">
              <a:defRPr lang="de-DE">
                <a:solidFill>
                  <a:schemeClr val="tx2"/>
                </a:solidFill>
              </a:defRPr>
            </a:lvl9pPr>
          </a:lstStyle>
          <a:p>
            <a:pPr marL="0" lvl="1" defTabSz="914400"/>
            <a:r>
              <a:rPr lang="en-US" dirty="0">
                <a:solidFill>
                  <a:srgbClr val="465359"/>
                </a:solidFill>
              </a:rPr>
              <a:t>Parameters set from previous experience:</a:t>
            </a:r>
            <a:endParaRPr lang="en-US" kern="0" dirty="0">
              <a:solidFill>
                <a:srgbClr val="465359"/>
              </a:solidFill>
            </a:endParaRPr>
          </a:p>
        </p:txBody>
      </p:sp>
      <p:sp>
        <p:nvSpPr>
          <p:cNvPr id="15" name="Geschweifte Klammer links 14">
            <a:extLst>
              <a:ext uri="{FF2B5EF4-FFF2-40B4-BE49-F238E27FC236}">
                <a16:creationId xmlns:a16="http://schemas.microsoft.com/office/drawing/2014/main" id="{CC459101-6820-EB3A-6DAB-CDF896616AA0}"/>
              </a:ext>
            </a:extLst>
          </p:cNvPr>
          <p:cNvSpPr/>
          <p:nvPr/>
        </p:nvSpPr>
        <p:spPr>
          <a:xfrm>
            <a:off x="3230480" y="3759872"/>
            <a:ext cx="433136" cy="27973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el 10">
            <a:extLst>
              <a:ext uri="{FF2B5EF4-FFF2-40B4-BE49-F238E27FC236}">
                <a16:creationId xmlns:a16="http://schemas.microsoft.com/office/drawing/2014/main" id="{A05E00E8-80F4-0C42-739C-8B6040B4E988}"/>
              </a:ext>
            </a:extLst>
          </p:cNvPr>
          <p:cNvSpPr txBox="1">
            <a:spLocks/>
          </p:cNvSpPr>
          <p:nvPr/>
        </p:nvSpPr>
        <p:spPr>
          <a:xfrm>
            <a:off x="457200" y="690880"/>
            <a:ext cx="11267440" cy="1143000"/>
          </a:xfrm>
          <a:prstGeom prst="rect">
            <a:avLst/>
          </a:prstGeom>
        </p:spPr>
        <p:txBody>
          <a:bodyPr vert="horz" lIns="91440" tIns="182880" rIns="91440" bIns="182880" rtlCol="0" anchor="ctr" anchorCtr="0">
            <a:noAutofit/>
          </a:bodyPr>
          <a:lstStyle>
            <a:defPPr>
              <a:defRPr lang="de-DE"/>
            </a:defPPr>
            <a:lvl1pPr algn="l" defTabSz="457200" rtl="0" eaLnBrk="1" latinLnBrk="0" hangingPunct="1">
              <a:spcBef>
                <a:spcPct val="0"/>
              </a:spcBef>
              <a:buNone/>
              <a:defRPr lang="de-DE"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de-DE">
                <a:solidFill>
                  <a:schemeClr val="tx2"/>
                </a:solidFill>
              </a:defRPr>
            </a:lvl2pPr>
            <a:lvl3pPr eaLnBrk="1" hangingPunct="1">
              <a:defRPr lang="de-DE">
                <a:solidFill>
                  <a:schemeClr val="tx2"/>
                </a:solidFill>
              </a:defRPr>
            </a:lvl3pPr>
            <a:lvl4pPr eaLnBrk="1" hangingPunct="1">
              <a:defRPr lang="de-DE">
                <a:solidFill>
                  <a:schemeClr val="tx2"/>
                </a:solidFill>
              </a:defRPr>
            </a:lvl4pPr>
            <a:lvl5pPr eaLnBrk="1" hangingPunct="1">
              <a:defRPr lang="de-DE">
                <a:solidFill>
                  <a:schemeClr val="tx2"/>
                </a:solidFill>
              </a:defRPr>
            </a:lvl5pPr>
            <a:lvl6pPr eaLnBrk="1" hangingPunct="1">
              <a:defRPr lang="de-DE">
                <a:solidFill>
                  <a:schemeClr val="tx2"/>
                </a:solidFill>
              </a:defRPr>
            </a:lvl6pPr>
            <a:lvl7pPr eaLnBrk="1" hangingPunct="1">
              <a:defRPr lang="de-DE">
                <a:solidFill>
                  <a:schemeClr val="tx2"/>
                </a:solidFill>
              </a:defRPr>
            </a:lvl7pPr>
            <a:lvl8pPr eaLnBrk="1" hangingPunct="1">
              <a:defRPr lang="de-DE">
                <a:solidFill>
                  <a:schemeClr val="tx2"/>
                </a:solidFill>
              </a:defRPr>
            </a:lvl8pPr>
            <a:lvl9pPr eaLnBrk="1" hangingPunct="1">
              <a:defRPr lang="de-DE"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Variables &amp; Parameters</a:t>
            </a:r>
          </a:p>
        </p:txBody>
      </p:sp>
    </p:spTree>
    <p:extLst>
      <p:ext uri="{BB962C8B-B14F-4D97-AF65-F5344CB8AC3E}">
        <p14:creationId xmlns:p14="http://schemas.microsoft.com/office/powerpoint/2010/main" val="1937221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2B194F5B-9D4F-00D7-9F19-699358BA64B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  <a14:imgEffect>
                      <a14:colorTemperature colorTemp="72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00015" y="785823"/>
            <a:ext cx="9548133" cy="604789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D85A9BB4-9D7F-960C-0EDB-FEE22AF12798}"/>
              </a:ext>
            </a:extLst>
          </p:cNvPr>
          <p:cNvSpPr txBox="1"/>
          <p:nvPr/>
        </p:nvSpPr>
        <p:spPr>
          <a:xfrm>
            <a:off x="443663" y="1638722"/>
            <a:ext cx="10956257" cy="4654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ED8428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65359"/>
                </a:solidFill>
              </a:rPr>
              <a:t>Number of treatment until outcome is decided: 5-10</a:t>
            </a:r>
          </a:p>
          <a:p>
            <a:pPr marL="342900" indent="-342900">
              <a:lnSpc>
                <a:spcPct val="150000"/>
              </a:lnSpc>
              <a:buClr>
                <a:srgbClr val="ED8428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65359"/>
                </a:solidFill>
              </a:rPr>
              <a:t>Related events (short trial pause, 15-45 days): 25% of adverse events</a:t>
            </a:r>
          </a:p>
          <a:p>
            <a:pPr marL="342900" indent="-342900">
              <a:lnSpc>
                <a:spcPct val="150000"/>
              </a:lnSpc>
              <a:buClr>
                <a:srgbClr val="ED8428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65359"/>
                </a:solidFill>
              </a:rPr>
              <a:t>Severe unexpected events:  25% of related events</a:t>
            </a:r>
          </a:p>
          <a:p>
            <a:pPr marL="342900" indent="-342900">
              <a:lnSpc>
                <a:spcPct val="150000"/>
              </a:lnSpc>
              <a:buClr>
                <a:srgbClr val="ED8428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65359"/>
                </a:solidFill>
              </a:rPr>
              <a:t>Subsequent impact 50/50: </a:t>
            </a:r>
          </a:p>
          <a:p>
            <a:pPr marL="800100" lvl="1" indent="-342900">
              <a:lnSpc>
                <a:spcPct val="150000"/>
              </a:lnSpc>
              <a:buClr>
                <a:srgbClr val="ED8428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65359"/>
                </a:solidFill>
              </a:rPr>
              <a:t>additional trial pause of 60-180 days </a:t>
            </a:r>
          </a:p>
          <a:p>
            <a:pPr marL="800100" lvl="1" indent="-342900">
              <a:lnSpc>
                <a:spcPct val="150000"/>
              </a:lnSpc>
              <a:buClr>
                <a:srgbClr val="ED8428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65359"/>
                </a:solidFill>
              </a:rPr>
              <a:t>trial design change + additional trial pause of 15-180 days</a:t>
            </a:r>
          </a:p>
          <a:p>
            <a:pPr marL="342900" indent="-342900">
              <a:lnSpc>
                <a:spcPct val="150000"/>
              </a:lnSpc>
              <a:buClr>
                <a:srgbClr val="ED8428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65359"/>
                </a:solidFill>
              </a:rPr>
              <a:t>Compound with success rate: </a:t>
            </a:r>
          </a:p>
          <a:p>
            <a:pPr marL="800100" lvl="1" indent="-342900">
              <a:lnSpc>
                <a:spcPct val="150000"/>
              </a:lnSpc>
              <a:buClr>
                <a:srgbClr val="ED8428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65359"/>
                </a:solidFill>
              </a:rPr>
              <a:t>last one: above </a:t>
            </a:r>
            <a:r>
              <a:rPr lang="en-US" sz="2000" dirty="0" err="1">
                <a:solidFill>
                  <a:srgbClr val="465359"/>
                </a:solidFill>
              </a:rPr>
              <a:t>threshhold</a:t>
            </a:r>
            <a:endParaRPr lang="en-US" sz="2000" dirty="0">
              <a:solidFill>
                <a:srgbClr val="465359"/>
              </a:solidFill>
            </a:endParaRPr>
          </a:p>
          <a:p>
            <a:pPr marL="800100" lvl="1" indent="-342900">
              <a:lnSpc>
                <a:spcPct val="150000"/>
              </a:lnSpc>
              <a:buClr>
                <a:srgbClr val="ED8428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65359"/>
                </a:solidFill>
              </a:rPr>
              <a:t>other below in a percentage range (according to phase 2 results)</a:t>
            </a:r>
          </a:p>
          <a:p>
            <a:pPr marL="800100" lvl="1" indent="-342900">
              <a:lnSpc>
                <a:spcPct val="150000"/>
              </a:lnSpc>
              <a:buClr>
                <a:srgbClr val="ED8428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65359"/>
                </a:solidFill>
              </a:rPr>
              <a:t>Placebo:10% / Control: according to existing rate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91517DF-3C9A-53DE-65DB-0007EC6DC5EB}"/>
              </a:ext>
            </a:extLst>
          </p:cNvPr>
          <p:cNvSpPr txBox="1">
            <a:spLocks/>
          </p:cNvSpPr>
          <p:nvPr/>
        </p:nvSpPr>
        <p:spPr>
          <a:xfrm>
            <a:off x="395537" y="641160"/>
            <a:ext cx="11292839" cy="10191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de-DE"/>
            </a:defPPr>
            <a:lvl1pPr algn="ctr" defTabSz="457200" rtl="0" eaLnBrk="1" latinLnBrk="0" hangingPunct="1">
              <a:spcBef>
                <a:spcPct val="0"/>
              </a:spcBef>
              <a:buNone/>
              <a:defRPr lang="de-DE"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de-DE">
                <a:solidFill>
                  <a:schemeClr val="tx2"/>
                </a:solidFill>
              </a:defRPr>
            </a:lvl2pPr>
            <a:lvl3pPr eaLnBrk="1" hangingPunct="1">
              <a:defRPr lang="de-DE">
                <a:solidFill>
                  <a:schemeClr val="tx2"/>
                </a:solidFill>
              </a:defRPr>
            </a:lvl3pPr>
            <a:lvl4pPr eaLnBrk="1" hangingPunct="1">
              <a:defRPr lang="de-DE">
                <a:solidFill>
                  <a:schemeClr val="tx2"/>
                </a:solidFill>
              </a:defRPr>
            </a:lvl4pPr>
            <a:lvl5pPr eaLnBrk="1" hangingPunct="1">
              <a:defRPr lang="de-DE">
                <a:solidFill>
                  <a:schemeClr val="tx2"/>
                </a:solidFill>
              </a:defRPr>
            </a:lvl5pPr>
            <a:lvl6pPr eaLnBrk="1" hangingPunct="1">
              <a:defRPr lang="de-DE">
                <a:solidFill>
                  <a:schemeClr val="tx2"/>
                </a:solidFill>
              </a:defRPr>
            </a:lvl6pPr>
            <a:lvl7pPr eaLnBrk="1" hangingPunct="1">
              <a:defRPr lang="de-DE">
                <a:solidFill>
                  <a:schemeClr val="tx2"/>
                </a:solidFill>
              </a:defRPr>
            </a:lvl7pPr>
            <a:lvl8pPr eaLnBrk="1" hangingPunct="1">
              <a:defRPr lang="de-DE">
                <a:solidFill>
                  <a:schemeClr val="tx2"/>
                </a:solidFill>
              </a:defRPr>
            </a:lvl8pPr>
            <a:lvl9pPr eaLnBrk="1" hangingPunct="1">
              <a:defRPr lang="de-DE"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ED8428"/>
                </a:solidFill>
              </a:rPr>
              <a:t>Stochastic elements</a:t>
            </a:r>
          </a:p>
        </p:txBody>
      </p:sp>
    </p:spTree>
    <p:extLst>
      <p:ext uri="{BB962C8B-B14F-4D97-AF65-F5344CB8AC3E}">
        <p14:creationId xmlns:p14="http://schemas.microsoft.com/office/powerpoint/2010/main" val="3827219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Challenges /</a:t>
            </a:r>
            <a:br>
              <a:rPr lang="de-DE" dirty="0"/>
            </a:br>
            <a:r>
              <a:rPr lang="de-DE" dirty="0" err="1"/>
              <a:t>Discussions</a:t>
            </a:r>
            <a:r>
              <a:rPr lang="de-DE" dirty="0"/>
              <a:t> / Questions</a:t>
            </a:r>
          </a:p>
        </p:txBody>
      </p:sp>
      <p:pic>
        <p:nvPicPr>
          <p:cNvPr id="21" name="Bildplatzhalter 20" descr="Eine Person in einem weißen Kittel mit einem Stethoskop um den Hals">
            <a:extLst>
              <a:ext uri="{FF2B5EF4-FFF2-40B4-BE49-F238E27FC236}">
                <a16:creationId xmlns:a16="http://schemas.microsoft.com/office/drawing/2014/main" id="{244AC564-6A07-A90A-B027-67CD2423BB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54" b="354"/>
          <a:stretch/>
        </p:blipFill>
        <p:spPr>
          <a:xfrm>
            <a:off x="4236720" y="650240"/>
            <a:ext cx="7518398" cy="5713918"/>
          </a:xfrm>
        </p:spPr>
      </p:pic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el 30">
            <a:extLst>
              <a:ext uri="{FF2B5EF4-FFF2-40B4-BE49-F238E27FC236}">
                <a16:creationId xmlns:a16="http://schemas.microsoft.com/office/drawing/2014/main" id="{B045D6AF-532B-394C-0C6F-38B6628C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endParaRPr lang="de-DE" dirty="0"/>
          </a:p>
        </p:txBody>
      </p:sp>
      <p:pic>
        <p:nvPicPr>
          <p:cNvPr id="23" name="Bildplatzhalter 22" descr="Eine Gruppe von Personen, die sich gegenseitig ein High Five geben">
            <a:extLst>
              <a:ext uri="{FF2B5EF4-FFF2-40B4-BE49-F238E27FC236}">
                <a16:creationId xmlns:a16="http://schemas.microsoft.com/office/drawing/2014/main" id="{D92A2E6E-E7AB-92FB-0E6F-133483021C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6095" r="6095"/>
          <a:stretch/>
        </p:blipFill>
        <p:spPr>
          <a:xfrm>
            <a:off x="4231970" y="666985"/>
            <a:ext cx="7497880" cy="5687344"/>
          </a:xfrm>
        </p:spPr>
      </p:pic>
    </p:spTree>
    <p:extLst>
      <p:ext uri="{BB962C8B-B14F-4D97-AF65-F5344CB8AC3E}">
        <p14:creationId xmlns:p14="http://schemas.microsoft.com/office/powerpoint/2010/main" val="27709593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Custom 10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465359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 design_Win32_SL_V15" id="{2701BB1F-F316-4B75-9491-9CBB0D27A737}" vid="{567D41FF-711B-46C9-BAF2-A20952F37F9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0">
    <a:dk1>
      <a:sysClr val="windowText" lastClr="000000"/>
    </a:dk1>
    <a:lt1>
      <a:sysClr val="window" lastClr="FFFFFF"/>
    </a:lt1>
    <a:dk2>
      <a:srgbClr val="3D3D3D"/>
    </a:dk2>
    <a:lt2>
      <a:srgbClr val="EBEBEB"/>
    </a:lt2>
    <a:accent1>
      <a:srgbClr val="ED8428"/>
    </a:accent1>
    <a:accent2>
      <a:srgbClr val="E6C46D"/>
    </a:accent2>
    <a:accent3>
      <a:srgbClr val="465359"/>
    </a:accent3>
    <a:accent4>
      <a:srgbClr val="969FA7"/>
    </a:accent4>
    <a:accent5>
      <a:srgbClr val="A9C37C"/>
    </a:accent5>
    <a:accent6>
      <a:srgbClr val="5A8071"/>
    </a:accent6>
    <a:hlink>
      <a:srgbClr val="828282"/>
    </a:hlink>
    <a:folHlink>
      <a:srgbClr val="A5A5A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0437772-7826-4CEE-8E78-517B414A42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679C34-122C-4127-90D9-C271AEE94C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26303C-A89C-422C-9097-BDF7002EFC5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616</Words>
  <Application>Microsoft Office PowerPoint</Application>
  <PresentationFormat>Breitbild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Wingdings</vt:lpstr>
      <vt:lpstr>Wingdings 2</vt:lpstr>
      <vt:lpstr>DividendVTI</vt:lpstr>
      <vt:lpstr>Simulation OF Phase 3 - Clinical Trials  Pascal Luc</vt:lpstr>
      <vt:lpstr>Agenda </vt:lpstr>
      <vt:lpstr>Phases of Clinical Trial</vt:lpstr>
      <vt:lpstr>Why Simulate Clinical Trials?</vt:lpstr>
      <vt:lpstr>Planning Phase (Who is involved?)</vt:lpstr>
      <vt:lpstr>PowerPoint-Präsentation</vt:lpstr>
      <vt:lpstr>Slide Templates</vt:lpstr>
      <vt:lpstr>PowerPoint-Präsentation</vt:lpstr>
      <vt:lpstr>Trial (-arm) stop / Regulatory requirements:  </vt:lpstr>
      <vt:lpstr>PowerPoint-Präsentation</vt:lpstr>
      <vt:lpstr>Challenges / Discussions / 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Pascal Luc</cp:lastModifiedBy>
  <cp:revision>61</cp:revision>
  <dcterms:created xsi:type="dcterms:W3CDTF">2026-03-18T07:36:26Z</dcterms:created>
  <dcterms:modified xsi:type="dcterms:W3CDTF">2026-04-18T08:29:03Z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